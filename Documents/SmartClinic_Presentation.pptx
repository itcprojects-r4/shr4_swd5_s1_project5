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8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80" r:id="rId16"/>
    <p:sldId id="281" r:id="rId17"/>
    <p:sldId id="282" r:id="rId18"/>
    <p:sldId id="283" r:id="rId19"/>
    <p:sldId id="274" r:id="rId20"/>
    <p:sldId id="284" r:id="rId21"/>
    <p:sldId id="276" r:id="rId22"/>
    <p:sldId id="277" r:id="rId23"/>
    <p:sldId id="278" r:id="rId24"/>
    <p:sldId id="279" r:id="rId2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9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75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1037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766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9591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5010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2365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rive.google.com/file/d/12H1RRrW1dBXQI41IjdYj5B3wa31-83P9/view?usp=drivesdk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0E7C7B">
              <a:alpha val="25000"/>
            </a:srgbClr>
          </a:solidFill>
          <a:ln w="12700">
            <a:solidFill>
              <a:srgbClr val="0E7C7B">
                <a:alpha val="2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ellipse">
            <a:avLst/>
          </a:prstGeom>
          <a:solidFill>
            <a:srgbClr val="14A8A6">
              <a:alpha val="35000"/>
            </a:srgbClr>
          </a:solidFill>
          <a:ln w="12700">
            <a:solidFill>
              <a:srgbClr val="14A8A6">
                <a:alpha val="3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3474720"/>
            <a:ext cx="4572000" cy="2743200"/>
          </a:xfrm>
          <a:prstGeom prst="ellipse">
            <a:avLst/>
          </a:prstGeom>
          <a:solidFill>
            <a:srgbClr val="0E7C7B">
              <a:alpha val="20000"/>
            </a:srgbClr>
          </a:solidFill>
          <a:ln w="12700">
            <a:solidFill>
              <a:srgbClr val="0E7C7B">
                <a:alpha val="20000"/>
              </a:srgbClr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68710"/>
            <a:ext cx="91440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02299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Clinic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554480" y="166307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A8DA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System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457200" y="2303150"/>
            <a:ext cx="822960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242202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 Graduation Project  •  Digital Egypt Pioneers Initiative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89751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0E7C7B">
              <a:alpha val="25000"/>
            </a:srgbClr>
          </a:solidFill>
          <a:ln w="12700">
            <a:solidFill>
              <a:srgbClr val="14A8A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91579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314439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Stack .NET Development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291840" y="289751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0E7C7B">
              <a:alpha val="25000"/>
            </a:srgbClr>
          </a:solidFill>
          <a:ln w="12700">
            <a:solidFill>
              <a:srgbClr val="14A8A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91840" y="291579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291840" y="3144398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– 2026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2624" y="2897510"/>
            <a:ext cx="2606040" cy="685800"/>
          </a:xfrm>
          <a:prstGeom prst="roundRect">
            <a:avLst>
              <a:gd name="adj" fmla="val 13333"/>
            </a:avLst>
          </a:prstGeom>
          <a:solidFill>
            <a:srgbClr val="0E7C7B">
              <a:alpha val="25000"/>
            </a:srgbClr>
          </a:solidFill>
          <a:ln w="12700">
            <a:solidFill>
              <a:srgbClr val="14A8A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26480" y="2915798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126480" y="3153542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Mahmoud </a:t>
            </a:r>
            <a:r>
              <a:rPr lang="en-US" sz="10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Raslan</a:t>
            </a:r>
            <a:endParaRPr lang="en-US" sz="105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algn="ctr"/>
            <a:r>
              <a:rPr lang="en-US" sz="105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 </a:t>
            </a: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Ibrahim </a:t>
            </a:r>
            <a:r>
              <a:rPr lang="en-US" sz="105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Mohamed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376619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778" b="89778" l="9778" r="90667">
                        <a14:foregroundMark x1="71111" y1="22222" x2="83111" y2="36889"/>
                        <a14:foregroundMark x1="83111" y1="39111" x2="83111" y2="56000"/>
                        <a14:foregroundMark x1="83111" y1="61333" x2="73333" y2="74222"/>
                        <a14:foregroundMark x1="56889" y1="84889" x2="36000" y2="77778"/>
                        <a14:foregroundMark x1="36000" y1="81778" x2="18222" y2="63111"/>
                        <a14:backgroundMark x1="53778" y1="86222" x2="61778" y2="835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3256" y="686661"/>
            <a:ext cx="1614487" cy="1614487"/>
          </a:xfrm>
          <a:prstGeom prst="rect">
            <a:avLst/>
          </a:prstGeom>
          <a:effectLst>
            <a:softEdge rad="0"/>
          </a:effectLst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9268" b="89268" l="9574" r="95213">
                        <a14:foregroundMark x1="10638" y1="70732" x2="12766" y2="68293"/>
                        <a14:foregroundMark x1="13298" y1="68293" x2="94681" y2="67805"/>
                        <a14:foregroundMark x1="94149" y1="67805" x2="92553" y2="81463"/>
                        <a14:foregroundMark x1="10638" y1="68780" x2="9574" y2="79512"/>
                        <a14:foregroundMark x1="11170" y1="79512" x2="89894" y2="80976"/>
                        <a14:foregroundMark x1="85106" y1="73171" x2="85106" y2="77073"/>
                        <a14:foregroundMark x1="85106" y1="77073" x2="85106" y2="73171"/>
                        <a14:foregroundMark x1="69681" y1="73171" x2="67021" y2="76585"/>
                        <a14:foregroundMark x1="67021" y1="74634" x2="67021" y2="75610"/>
                        <a14:foregroundMark x1="60638" y1="76098" x2="56383" y2="76098"/>
                        <a14:foregroundMark x1="60638" y1="75122" x2="58511" y2="76098"/>
                        <a14:foregroundMark x1="59043" y1="75122" x2="64362" y2="75122"/>
                        <a14:foregroundMark x1="44149" y1="76098" x2="28191" y2="76585"/>
                        <a14:foregroundMark x1="34043" y1="74634" x2="25532" y2="74634"/>
                        <a14:foregroundMark x1="85638" y1="79512" x2="76596" y2="765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1551" y="874410"/>
            <a:ext cx="1226402" cy="1337300"/>
          </a:xfrm>
          <a:prstGeom prst="rect">
            <a:avLst/>
          </a:prstGeom>
          <a:effectLst>
            <a:glow>
              <a:schemeClr val="accent1">
                <a:alpha val="40000"/>
              </a:schemeClr>
            </a:glow>
          </a:effec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/>
              <a:t>Team Contributions</a:t>
            </a:r>
            <a:endParaRPr lang="en-US" sz="2600" b="1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graphicFrame>
        <p:nvGraphicFramePr>
          <p:cNvPr id="71" name="Table 7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4674747"/>
              </p:ext>
            </p:extLst>
          </p:nvPr>
        </p:nvGraphicFramePr>
        <p:xfrm>
          <a:off x="1079736" y="907821"/>
          <a:ext cx="6779718" cy="3493140"/>
        </p:xfrm>
        <a:graphic>
          <a:graphicData uri="http://schemas.openxmlformats.org/drawingml/2006/table">
            <a:tbl>
              <a:tblPr rtl="1" firstRow="1" bandRow="1">
                <a:tableStyleId>{74C1A8A3-306A-4EB7-A6B1-4F7E0EB9C5D6}</a:tableStyleId>
              </a:tblPr>
              <a:tblGrid>
                <a:gridCol w="2259906">
                  <a:extLst>
                    <a:ext uri="{9D8B030D-6E8A-4147-A177-3AD203B41FA5}">
                      <a16:colId xmlns:a16="http://schemas.microsoft.com/office/drawing/2014/main" val="3661819525"/>
                    </a:ext>
                  </a:extLst>
                </a:gridCol>
                <a:gridCol w="2259906">
                  <a:extLst>
                    <a:ext uri="{9D8B030D-6E8A-4147-A177-3AD203B41FA5}">
                      <a16:colId xmlns:a16="http://schemas.microsoft.com/office/drawing/2014/main" val="125989739"/>
                    </a:ext>
                  </a:extLst>
                </a:gridCol>
                <a:gridCol w="2259906">
                  <a:extLst>
                    <a:ext uri="{9D8B030D-6E8A-4147-A177-3AD203B41FA5}">
                      <a16:colId xmlns:a16="http://schemas.microsoft.com/office/drawing/2014/main" val="1478503177"/>
                    </a:ext>
                  </a:extLst>
                </a:gridCol>
              </a:tblGrid>
              <a:tr h="255672"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/>
                        <a:t>Team Member</a:t>
                      </a:r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/>
                        <a:t>Primary Role</a:t>
                      </a:r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/>
                        <a:t>Main Responsibilities</a:t>
                      </a:r>
                    </a:p>
                  </a:txBody>
                  <a:tcPr marL="45310" marR="45310" marT="22655" marB="22655" anchor="ctr"/>
                </a:tc>
                <a:extLst>
                  <a:ext uri="{0D108BD9-81ED-4DB2-BD59-A6C34878D82A}">
                    <a16:rowId xmlns:a16="http://schemas.microsoft.com/office/drawing/2014/main" val="3881316982"/>
                  </a:ext>
                </a:extLst>
              </a:tr>
              <a:tr h="845866"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b="1" dirty="0" err="1" smtClean="0"/>
                        <a:t>Anas</a:t>
                      </a:r>
                      <a:r>
                        <a:rPr lang="en-US" sz="900" b="1" dirty="0" smtClean="0"/>
                        <a:t> Mohamed El-</a:t>
                      </a:r>
                      <a:r>
                        <a:rPr lang="en-US" sz="900" b="1" dirty="0" err="1" smtClean="0"/>
                        <a:t>sayed</a:t>
                      </a:r>
                      <a:endParaRPr lang="en-US" sz="900" b="1" dirty="0"/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/>
                        <a:t>Backend Developer </a:t>
                      </a:r>
                      <a:r>
                        <a:rPr lang="en-US" sz="900" dirty="0" smtClean="0"/>
                        <a:t>1 + Team leader</a:t>
                      </a:r>
                      <a:endParaRPr lang="en-US" sz="900" dirty="0"/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/>
                        <a:t>Authentication, User Management, Admin Operations, Doctors Management, Firebase Integration</a:t>
                      </a:r>
                    </a:p>
                  </a:txBody>
                  <a:tcPr marL="45310" marR="45310" marT="22655" marB="22655" anchor="ctr"/>
                </a:tc>
                <a:extLst>
                  <a:ext uri="{0D108BD9-81ED-4DB2-BD59-A6C34878D82A}">
                    <a16:rowId xmlns:a16="http://schemas.microsoft.com/office/drawing/2014/main" val="3514391515"/>
                  </a:ext>
                </a:extLst>
              </a:tr>
              <a:tr h="680556"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b="1" dirty="0" smtClean="0"/>
                        <a:t>Yousef Mohamed Ali</a:t>
                      </a:r>
                      <a:endParaRPr lang="en-US" sz="900" b="1" dirty="0"/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/>
                        <a:t>Backend Developer </a:t>
                      </a:r>
                      <a:r>
                        <a:rPr lang="en-US" sz="900" dirty="0" smtClean="0"/>
                        <a:t>2</a:t>
                      </a:r>
                      <a:endParaRPr lang="en-US" sz="900" dirty="0"/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/>
                        <a:t>Patients Management, Appointments, Prescriptions, Invoices, Receptionist Operations</a:t>
                      </a:r>
                    </a:p>
                  </a:txBody>
                  <a:tcPr marL="45310" marR="45310" marT="22655" marB="22655" anchor="ctr"/>
                </a:tc>
                <a:extLst>
                  <a:ext uri="{0D108BD9-81ED-4DB2-BD59-A6C34878D82A}">
                    <a16:rowId xmlns:a16="http://schemas.microsoft.com/office/drawing/2014/main" val="116511184"/>
                  </a:ext>
                </a:extLst>
              </a:tr>
              <a:tr h="515245"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b="1" dirty="0" smtClean="0"/>
                        <a:t>Ahmed </a:t>
                      </a:r>
                      <a:r>
                        <a:rPr lang="en-US" sz="900" b="1" dirty="0" err="1" smtClean="0"/>
                        <a:t>Ehab</a:t>
                      </a:r>
                      <a:endParaRPr lang="en-US" sz="900" b="1" dirty="0"/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/>
                        <a:t>Frontend Developer </a:t>
                      </a:r>
                      <a:r>
                        <a:rPr lang="en-US" sz="900" dirty="0" smtClean="0"/>
                        <a:t>1</a:t>
                      </a:r>
                      <a:endParaRPr lang="en-US" sz="900" dirty="0"/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fr-FR" sz="900"/>
                        <a:t>Public Website, Home Page, Authentication Pages, Navigation Components</a:t>
                      </a:r>
                    </a:p>
                  </a:txBody>
                  <a:tcPr marL="45310" marR="45310" marT="22655" marB="22655" anchor="ctr"/>
                </a:tc>
                <a:extLst>
                  <a:ext uri="{0D108BD9-81ED-4DB2-BD59-A6C34878D82A}">
                    <a16:rowId xmlns:a16="http://schemas.microsoft.com/office/drawing/2014/main" val="3426750412"/>
                  </a:ext>
                </a:extLst>
              </a:tr>
              <a:tr h="515245"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b="1" dirty="0" err="1" smtClean="0"/>
                        <a:t>Zyad</a:t>
                      </a:r>
                      <a:r>
                        <a:rPr lang="en-US" sz="900" b="1" dirty="0" smtClean="0"/>
                        <a:t> </a:t>
                      </a:r>
                      <a:r>
                        <a:rPr lang="en-US" sz="900" b="1" dirty="0" err="1" smtClean="0"/>
                        <a:t>Nbyl</a:t>
                      </a:r>
                      <a:endParaRPr lang="en-US" sz="900" b="1" dirty="0"/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/>
                        <a:t>Frontend Developer </a:t>
                      </a:r>
                      <a:r>
                        <a:rPr lang="en-US" sz="900" dirty="0" smtClean="0"/>
                        <a:t>2</a:t>
                      </a:r>
                      <a:endParaRPr lang="en-US" sz="900" dirty="0"/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/>
                        <a:t>Dashboards, Management Panels, Scheduling, Billing &amp; Prescription Interfaces</a:t>
                      </a:r>
                    </a:p>
                  </a:txBody>
                  <a:tcPr marL="45310" marR="45310" marT="22655" marB="22655" anchor="ctr"/>
                </a:tc>
                <a:extLst>
                  <a:ext uri="{0D108BD9-81ED-4DB2-BD59-A6C34878D82A}">
                    <a16:rowId xmlns:a16="http://schemas.microsoft.com/office/drawing/2014/main" val="1191643959"/>
                  </a:ext>
                </a:extLst>
              </a:tr>
              <a:tr h="680556"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b="1" dirty="0" err="1" smtClean="0"/>
                        <a:t>Asmaa</a:t>
                      </a:r>
                      <a:r>
                        <a:rPr lang="en-US" sz="900" b="1" dirty="0" smtClean="0"/>
                        <a:t> Ashraf</a:t>
                      </a:r>
                      <a:endParaRPr lang="en-US" sz="900" b="1" dirty="0"/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/>
                        <a:t>Database &amp; Firebase Developer</a:t>
                      </a:r>
                    </a:p>
                  </a:txBody>
                  <a:tcPr marL="45310" marR="45310" marT="22655" marB="22655" anchor="ctr"/>
                </a:tc>
                <a:tc>
                  <a:txBody>
                    <a:bodyPr/>
                    <a:lstStyle/>
                    <a:p>
                      <a:pPr lvl="1" algn="l" rtl="0">
                        <a:lnSpc>
                          <a:spcPct val="100000"/>
                        </a:lnSpc>
                      </a:pPr>
                      <a:r>
                        <a:rPr lang="en-US" sz="900" dirty="0" err="1"/>
                        <a:t>Firestore</a:t>
                      </a:r>
                      <a:r>
                        <a:rPr lang="en-US" sz="900" dirty="0"/>
                        <a:t> Database Design, Collections Structure, Security Rules, Firebase Configuration</a:t>
                      </a:r>
                    </a:p>
                  </a:txBody>
                  <a:tcPr marL="45310" marR="45310" marT="22655" marB="22655" anchor="ctr"/>
                </a:tc>
                <a:extLst>
                  <a:ext uri="{0D108BD9-81ED-4DB2-BD59-A6C34878D82A}">
                    <a16:rowId xmlns:a16="http://schemas.microsoft.com/office/drawing/2014/main" val="162391726"/>
                  </a:ext>
                </a:extLst>
              </a:tr>
            </a:tbl>
          </a:graphicData>
        </a:graphic>
      </p:graphicFrame>
      <p:sp>
        <p:nvSpPr>
          <p:cNvPr id="72" name="Shape 15"/>
          <p:cNvSpPr/>
          <p:nvPr/>
        </p:nvSpPr>
        <p:spPr>
          <a:xfrm>
            <a:off x="283879" y="4519557"/>
            <a:ext cx="8146054" cy="559165"/>
          </a:xfrm>
          <a:prstGeom prst="roundRect">
            <a:avLst>
              <a:gd name="adj" fmla="val 7742"/>
            </a:avLst>
          </a:prstGeom>
          <a:solidFill>
            <a:srgbClr val="0E7C7B">
              <a:alpha val="90000"/>
            </a:srgbClr>
          </a:solidFill>
          <a:ln w="12700">
            <a:solidFill>
              <a:srgbClr val="14A8A6"/>
            </a:solidFill>
            <a:prstDash val="solid"/>
          </a:ln>
        </p:spPr>
      </p:sp>
      <p:sp>
        <p:nvSpPr>
          <p:cNvPr id="73" name="Text 16"/>
          <p:cNvSpPr/>
          <p:nvPr/>
        </p:nvSpPr>
        <p:spPr>
          <a:xfrm>
            <a:off x="457200" y="4396324"/>
            <a:ext cx="7799413" cy="468977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74" name="Rectangle 2"/>
          <p:cNvSpPr>
            <a:spLocks noChangeArrowheads="1"/>
          </p:cNvSpPr>
          <p:nvPr/>
        </p:nvSpPr>
        <p:spPr bwMode="auto">
          <a:xfrm>
            <a:off x="233680" y="4522072"/>
            <a:ext cx="867664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EG" altLang="ar-EG" sz="1200" b="1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Shared Responsibilities:</a:t>
            </a:r>
            <a:r>
              <a:rPr kumimoji="0" lang="ar-EG" altLang="ar-EG" sz="12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Arial" panose="020B0604020202020204" pitchFamily="34" charset="0"/>
              </a:rPr>
              <a:t> Documentation, Presentation Preparation, Testing &amp; Quality Assurance were collaboratively completed by all team members.</a:t>
            </a:r>
          </a:p>
        </p:txBody>
      </p:sp>
    </p:spTree>
    <p:extLst>
      <p:ext uri="{BB962C8B-B14F-4D97-AF65-F5344CB8AC3E}">
        <p14:creationId xmlns:p14="http://schemas.microsoft.com/office/powerpoint/2010/main" val="2336527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599710" cy="33832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05840"/>
            <a:ext cx="47996" cy="33832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005840"/>
            <a:ext cx="31997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1005840"/>
            <a:ext cx="311974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432319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EBF5F5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1432319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432319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68680" y="1432319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1892808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1892808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892808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" y="1892808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Users &amp; Roles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2327510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EBF5F5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327510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2327510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" y="2327510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2704980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2704980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2704980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68680" y="2704980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082450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EBF5F5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082450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" y="3082450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68680" y="3082450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/>
              <a:t>Technology Stack</a:t>
            </a:r>
          </a:p>
        </p:txBody>
      </p:sp>
      <p:sp>
        <p:nvSpPr>
          <p:cNvPr id="29" name="Shape 27"/>
          <p:cNvSpPr/>
          <p:nvPr/>
        </p:nvSpPr>
        <p:spPr>
          <a:xfrm>
            <a:off x="4274655" y="1005840"/>
            <a:ext cx="3599710" cy="33832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274655" y="1005840"/>
            <a:ext cx="47996" cy="33832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4383" y="1005840"/>
            <a:ext cx="31997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777575" y="1005840"/>
            <a:ext cx="311974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274655" y="1432319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EBF5F5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274655" y="1432319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4383" y="1432319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777575" y="1432319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74655" y="1892808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274655" y="1892808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4383" y="1892808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777575" y="1892808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smtClean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274655" y="2327510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EBF5F5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274655" y="2327510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84383" y="2327510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777575" y="2327510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Lessons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274655" y="2704980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274655" y="2704980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84383" y="2704980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777575" y="2704980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274655" y="3082450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EBF5F5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4274655" y="3082450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84383" y="3082450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4777575" y="3082450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smtClean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53" name="Shape 11"/>
          <p:cNvSpPr/>
          <p:nvPr/>
        </p:nvSpPr>
        <p:spPr>
          <a:xfrm>
            <a:off x="365760" y="3519103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4" name="Shape 12"/>
          <p:cNvSpPr/>
          <p:nvPr/>
        </p:nvSpPr>
        <p:spPr>
          <a:xfrm>
            <a:off x="365760" y="3519103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5" name="Text 13"/>
          <p:cNvSpPr/>
          <p:nvPr/>
        </p:nvSpPr>
        <p:spPr>
          <a:xfrm>
            <a:off x="475488" y="3519103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6" name="Text 14"/>
          <p:cNvSpPr/>
          <p:nvPr/>
        </p:nvSpPr>
        <p:spPr>
          <a:xfrm>
            <a:off x="868680" y="3519103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</a:t>
            </a:r>
            <a:r>
              <a:rPr lang="en-US" sz="1400" b="1" dirty="0" smtClean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00" dirty="0"/>
          </a:p>
        </p:txBody>
      </p:sp>
      <p:sp>
        <p:nvSpPr>
          <p:cNvPr id="57" name="Shape 15"/>
          <p:cNvSpPr/>
          <p:nvPr/>
        </p:nvSpPr>
        <p:spPr>
          <a:xfrm>
            <a:off x="365760" y="3953805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EBF5F5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8" name="Shape 16"/>
          <p:cNvSpPr/>
          <p:nvPr/>
        </p:nvSpPr>
        <p:spPr>
          <a:xfrm>
            <a:off x="365760" y="3953805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59" name="Text 17"/>
          <p:cNvSpPr/>
          <p:nvPr/>
        </p:nvSpPr>
        <p:spPr>
          <a:xfrm>
            <a:off x="475488" y="3953805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60" name="Text 18"/>
          <p:cNvSpPr/>
          <p:nvPr/>
        </p:nvSpPr>
        <p:spPr>
          <a:xfrm>
            <a:off x="868680" y="3953805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→ Firebase Migration</a:t>
            </a:r>
            <a:endParaRPr lang="en-US" sz="1200" dirty="0"/>
          </a:p>
        </p:txBody>
      </p:sp>
      <p:sp>
        <p:nvSpPr>
          <p:cNvPr id="61" name="Shape 19"/>
          <p:cNvSpPr/>
          <p:nvPr/>
        </p:nvSpPr>
        <p:spPr>
          <a:xfrm>
            <a:off x="365760" y="4331275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2" name="Shape 20"/>
          <p:cNvSpPr/>
          <p:nvPr/>
        </p:nvSpPr>
        <p:spPr>
          <a:xfrm>
            <a:off x="365760" y="4331275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63" name="Text 21"/>
          <p:cNvSpPr/>
          <p:nvPr/>
        </p:nvSpPr>
        <p:spPr>
          <a:xfrm>
            <a:off x="475488" y="4331275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64" name="Text 22"/>
          <p:cNvSpPr/>
          <p:nvPr/>
        </p:nvSpPr>
        <p:spPr>
          <a:xfrm>
            <a:off x="868680" y="4331275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smtClean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Collections Design</a:t>
            </a:r>
            <a:endParaRPr lang="en-US" sz="1200" dirty="0"/>
          </a:p>
        </p:txBody>
      </p:sp>
      <p:sp>
        <p:nvSpPr>
          <p:cNvPr id="65" name="Shape 23"/>
          <p:cNvSpPr/>
          <p:nvPr/>
        </p:nvSpPr>
        <p:spPr>
          <a:xfrm>
            <a:off x="365760" y="4708745"/>
            <a:ext cx="3599710" cy="280898"/>
          </a:xfrm>
          <a:prstGeom prst="roundRect">
            <a:avLst>
              <a:gd name="adj" fmla="val 13793"/>
            </a:avLst>
          </a:prstGeom>
          <a:solidFill>
            <a:srgbClr val="EBF5F5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6" name="Shape 24"/>
          <p:cNvSpPr/>
          <p:nvPr/>
        </p:nvSpPr>
        <p:spPr>
          <a:xfrm>
            <a:off x="365760" y="4708745"/>
            <a:ext cx="47996" cy="280898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67" name="Text 25"/>
          <p:cNvSpPr/>
          <p:nvPr/>
        </p:nvSpPr>
        <p:spPr>
          <a:xfrm>
            <a:off x="475488" y="4708745"/>
            <a:ext cx="319974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smtClean="0">
                <a:solidFill>
                  <a:srgbClr val="0E7C7B"/>
                </a:solidFill>
                <a:latin typeface="Calibri" pitchFamily="34" charset="0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8" name="Text 26"/>
          <p:cNvSpPr/>
          <p:nvPr/>
        </p:nvSpPr>
        <p:spPr>
          <a:xfrm>
            <a:off x="868680" y="4708745"/>
            <a:ext cx="3119749" cy="2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Security</a:t>
            </a:r>
            <a:endParaRPr lang="en-US" sz="1200" dirty="0"/>
          </a:p>
        </p:txBody>
      </p:sp>
      <p:sp>
        <p:nvSpPr>
          <p:cNvPr id="85" name="Rectangle 84"/>
          <p:cNvSpPr/>
          <p:nvPr/>
        </p:nvSpPr>
        <p:spPr>
          <a:xfrm>
            <a:off x="4704357" y="998904"/>
            <a:ext cx="22043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&amp; UI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clinics face critical operational challenges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011680" cy="2194560"/>
          </a:xfrm>
          <a:prstGeom prst="roundRect">
            <a:avLst>
              <a:gd name="adj" fmla="val 5455"/>
            </a:avLst>
          </a:prstGeom>
          <a:solidFill>
            <a:srgbClr val="0D2137"/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188720"/>
            <a:ext cx="594360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Paper-based Records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743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files prone to loss and damage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23160" y="1051560"/>
            <a:ext cx="2011680" cy="2194560"/>
          </a:xfrm>
          <a:prstGeom prst="roundRect">
            <a:avLst>
              <a:gd name="adj" fmla="val 5455"/>
            </a:avLst>
          </a:prstGeom>
          <a:solidFill>
            <a:srgbClr val="0D2137"/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1188720"/>
            <a:ext cx="594360" cy="5943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42316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Conflicts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24231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scheduling system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572000" y="1051560"/>
            <a:ext cx="2011680" cy="2194560"/>
          </a:xfrm>
          <a:prstGeom prst="roundRect">
            <a:avLst>
              <a:gd name="adj" fmla="val 5455"/>
            </a:avLst>
          </a:prstGeom>
          <a:solidFill>
            <a:srgbClr val="0D2137"/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118872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200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Difficulties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5720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invoicing leads to errors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720840" y="1051560"/>
            <a:ext cx="2011680" cy="2194560"/>
          </a:xfrm>
          <a:prstGeom prst="roundRect">
            <a:avLst>
              <a:gd name="adj" fmla="val 5455"/>
            </a:avLst>
          </a:prstGeom>
          <a:solidFill>
            <a:srgbClr val="0D2137"/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1188720"/>
            <a:ext cx="594360" cy="5943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720840" y="19202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Loss Risk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67208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backup or audit trail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274320" y="3429000"/>
            <a:ext cx="8595360" cy="1417320"/>
          </a:xfrm>
          <a:prstGeom prst="roundRect">
            <a:avLst>
              <a:gd name="adj" fmla="val 7742"/>
            </a:avLst>
          </a:prstGeom>
          <a:solidFill>
            <a:srgbClr val="0E7C7B">
              <a:alpha val="90000"/>
            </a:srgbClr>
          </a:solidFill>
          <a:ln w="12700">
            <a:solidFill>
              <a:srgbClr val="14A8A6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Smart Clinic System digitizes and automates all clinic operations — eliminating manual errors, preventing data loss, and enabling real-time visibility.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6012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124712"/>
            <a:ext cx="731520" cy="731520"/>
          </a:xfrm>
          <a:prstGeom prst="ellipse">
            <a:avLst/>
          </a:prstGeom>
          <a:solidFill>
            <a:srgbClr val="0E7C7B">
              <a:alpha val="85000"/>
            </a:srgbClr>
          </a:solidFill>
          <a:ln w="12700">
            <a:solidFill>
              <a:srgbClr val="14A8A6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170432"/>
            <a:ext cx="548640" cy="548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1920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Management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4320" y="2267712"/>
            <a:ext cx="1965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update &amp; track patient records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23160" y="96012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044952" y="1124712"/>
            <a:ext cx="731520" cy="731520"/>
          </a:xfrm>
          <a:prstGeom prst="ellipse">
            <a:avLst/>
          </a:prstGeom>
          <a:solidFill>
            <a:srgbClr val="0E7C7B">
              <a:alpha val="85000"/>
            </a:srgbClr>
          </a:solidFill>
          <a:ln w="12700">
            <a:solidFill>
              <a:srgbClr val="14A8A6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6392" y="1170432"/>
            <a:ext cx="548640" cy="5486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423160" y="1920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Management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423160" y="2267712"/>
            <a:ext cx="1965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doctors, schedules &amp; specialties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572000" y="96012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193792" y="1124712"/>
            <a:ext cx="731520" cy="731520"/>
          </a:xfrm>
          <a:prstGeom prst="ellipse">
            <a:avLst/>
          </a:prstGeom>
          <a:solidFill>
            <a:srgbClr val="0E7C7B">
              <a:alpha val="85000"/>
            </a:srgbClr>
          </a:solidFill>
          <a:ln w="12700">
            <a:solidFill>
              <a:srgbClr val="14A8A6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5232" y="1170432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572000" y="1920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4572000" y="2267712"/>
            <a:ext cx="1965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booking with conflict detection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720840" y="96012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42632" y="1124712"/>
            <a:ext cx="731520" cy="731520"/>
          </a:xfrm>
          <a:prstGeom prst="ellipse">
            <a:avLst/>
          </a:prstGeom>
          <a:solidFill>
            <a:srgbClr val="0E7C7B">
              <a:alpha val="85000"/>
            </a:srgbClr>
          </a:solidFill>
          <a:ln w="12700">
            <a:solidFill>
              <a:srgbClr val="14A8A6"/>
            </a:solidFill>
            <a:prstDash val="solid"/>
          </a:ln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072" y="1170432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20840" y="192024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Records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6720840" y="2267712"/>
            <a:ext cx="1965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digital patient history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74320" y="288036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96112" y="3044952"/>
            <a:ext cx="731520" cy="731520"/>
          </a:xfrm>
          <a:prstGeom prst="ellipse">
            <a:avLst/>
          </a:prstGeom>
          <a:solidFill>
            <a:srgbClr val="0E7C7B">
              <a:alpha val="85000"/>
            </a:srgbClr>
          </a:solidFill>
          <a:ln w="12700">
            <a:solidFill>
              <a:srgbClr val="14A8A6"/>
            </a:solidFill>
            <a:prstDash val="solid"/>
          </a:ln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3090672"/>
            <a:ext cx="548640" cy="54864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274320" y="38404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Prescriptions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274320" y="4187952"/>
            <a:ext cx="1965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prescription generation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2423160" y="288036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3044952" y="3044952"/>
            <a:ext cx="731520" cy="731520"/>
          </a:xfrm>
          <a:prstGeom prst="ellipse">
            <a:avLst/>
          </a:prstGeom>
          <a:solidFill>
            <a:srgbClr val="0E7C7B">
              <a:alpha val="85000"/>
            </a:srgbClr>
          </a:solidFill>
          <a:ln w="12700">
            <a:solidFill>
              <a:srgbClr val="14A8A6"/>
            </a:solidFill>
            <a:prstDash val="solid"/>
          </a:ln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6392" y="3090672"/>
            <a:ext cx="548640" cy="5486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2423160" y="38404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2423160" y="4187952"/>
            <a:ext cx="1965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invoicing &amp; payment tracking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72000" y="288036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5193792" y="3044952"/>
            <a:ext cx="731520" cy="731520"/>
          </a:xfrm>
          <a:prstGeom prst="ellipse">
            <a:avLst/>
          </a:prstGeom>
          <a:solidFill>
            <a:srgbClr val="0E7C7B">
              <a:alpha val="85000"/>
            </a:srgbClr>
          </a:solidFill>
          <a:ln w="12700">
            <a:solidFill>
              <a:srgbClr val="14A8A6"/>
            </a:solidFill>
            <a:prstDash val="solid"/>
          </a:ln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5232" y="3090672"/>
            <a:ext cx="548640" cy="54864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4572000" y="38404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38" name="Text 29"/>
          <p:cNvSpPr/>
          <p:nvPr/>
        </p:nvSpPr>
        <p:spPr>
          <a:xfrm>
            <a:off x="4572000" y="4187952"/>
            <a:ext cx="1965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performance dashboards</a:t>
            </a:r>
            <a:endParaRPr lang="en-US" sz="900" dirty="0"/>
          </a:p>
        </p:txBody>
      </p:sp>
      <p:sp>
        <p:nvSpPr>
          <p:cNvPr id="39" name="Shape 30"/>
          <p:cNvSpPr/>
          <p:nvPr/>
        </p:nvSpPr>
        <p:spPr>
          <a:xfrm>
            <a:off x="6720840" y="2880360"/>
            <a:ext cx="196596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7342632" y="3044952"/>
            <a:ext cx="731520" cy="731520"/>
          </a:xfrm>
          <a:prstGeom prst="ellipse">
            <a:avLst/>
          </a:prstGeom>
          <a:solidFill>
            <a:srgbClr val="0E7C7B">
              <a:alpha val="85000"/>
            </a:srgbClr>
          </a:solidFill>
          <a:ln w="12700">
            <a:solidFill>
              <a:srgbClr val="14A8A6"/>
            </a:solidFill>
            <a:prstDash val="solid"/>
          </a:ln>
        </p:spPr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34072" y="3090672"/>
            <a:ext cx="548640" cy="54864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6720840" y="384048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</a:t>
            </a:r>
            <a:endParaRPr lang="en-US" sz="1000" dirty="0"/>
          </a:p>
        </p:txBody>
      </p:sp>
      <p:sp>
        <p:nvSpPr>
          <p:cNvPr id="43" name="Text 33"/>
          <p:cNvSpPr/>
          <p:nvPr/>
        </p:nvSpPr>
        <p:spPr>
          <a:xfrm>
            <a:off x="6720840" y="4187952"/>
            <a:ext cx="196596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activity trail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Users &amp; Roles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— 4 distinct user roles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011680" cy="35661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2011680" cy="1051560"/>
          </a:xfrm>
          <a:prstGeom prst="roundRect">
            <a:avLst>
              <a:gd name="adj" fmla="val 10435"/>
            </a:avLst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" y="1078992"/>
            <a:ext cx="594360" cy="594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17099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84048" y="2212848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A8DADC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20624" y="22128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Manage all users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84048" y="2615184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A8DADC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20624" y="26151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System configuration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384048" y="3017520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A8DADC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0624" y="301752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View all reports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84048" y="3419856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A8DADC"/>
          </a:solidFill>
          <a:ln w="12700">
            <a:solidFill>
              <a:srgbClr val="A8DA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20624" y="341985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Audit log access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423160" y="1005840"/>
            <a:ext cx="2011680" cy="35661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1005840"/>
            <a:ext cx="2011680" cy="1051560"/>
          </a:xfrm>
          <a:prstGeom prst="roundRect">
            <a:avLst>
              <a:gd name="adj" fmla="val 10435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8104" y="1078992"/>
            <a:ext cx="594360" cy="59436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423160" y="17099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2532888" y="2212848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D4F1F0"/>
          </a:solidFill>
          <a:ln w="12700">
            <a:solidFill>
              <a:srgbClr val="D4F1F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569464" y="22128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View patient records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2532888" y="2615184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D4F1F0"/>
          </a:solidFill>
          <a:ln w="12700">
            <a:solidFill>
              <a:srgbClr val="D4F1F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569464" y="26151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Add medical notes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2532888" y="3017520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D4F1F0"/>
          </a:solidFill>
          <a:ln w="12700">
            <a:solidFill>
              <a:srgbClr val="D4F1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569464" y="301752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Write prescriptions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2532888" y="3419856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D4F1F0"/>
          </a:solidFill>
          <a:ln w="12700">
            <a:solidFill>
              <a:srgbClr val="D4F1F0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2569464" y="341985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View appointments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4572000" y="1005840"/>
            <a:ext cx="2011680" cy="35661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4572000" y="1005840"/>
            <a:ext cx="2011680" cy="1051560"/>
          </a:xfrm>
          <a:prstGeom prst="roundRect">
            <a:avLst>
              <a:gd name="adj" fmla="val 10435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078992"/>
            <a:ext cx="594360" cy="594360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4572000" y="17099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Receptionist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4681728" y="2212848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FDE8D4"/>
          </a:solidFill>
          <a:ln w="12700">
            <a:solidFill>
              <a:srgbClr val="FDE8D4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4718304" y="22128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Book appointments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4681728" y="2615184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FDE8D4"/>
          </a:solidFill>
          <a:ln w="12700">
            <a:solidFill>
              <a:srgbClr val="FDE8D4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718304" y="26151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Register patients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4681728" y="3017520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FDE8D4"/>
          </a:solidFill>
          <a:ln w="12700">
            <a:solidFill>
              <a:srgbClr val="FDE8D4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4718304" y="301752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Generate invoices</a:t>
            </a:r>
            <a:endParaRPr lang="en-US" sz="900" dirty="0"/>
          </a:p>
        </p:txBody>
      </p:sp>
      <p:sp>
        <p:nvSpPr>
          <p:cNvPr id="39" name="Shape 34"/>
          <p:cNvSpPr/>
          <p:nvPr/>
        </p:nvSpPr>
        <p:spPr>
          <a:xfrm>
            <a:off x="4681728" y="3419856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FDE8D4"/>
          </a:solidFill>
          <a:ln w="12700">
            <a:solidFill>
              <a:srgbClr val="FDE8D4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4718304" y="341985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Send notifications</a:t>
            </a:r>
            <a:endParaRPr lang="en-US" sz="900" dirty="0"/>
          </a:p>
        </p:txBody>
      </p:sp>
      <p:sp>
        <p:nvSpPr>
          <p:cNvPr id="41" name="Shape 36"/>
          <p:cNvSpPr/>
          <p:nvPr/>
        </p:nvSpPr>
        <p:spPr>
          <a:xfrm>
            <a:off x="6720840" y="1005840"/>
            <a:ext cx="2011680" cy="35661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37"/>
          <p:cNvSpPr/>
          <p:nvPr/>
        </p:nvSpPr>
        <p:spPr>
          <a:xfrm>
            <a:off x="6720840" y="1005840"/>
            <a:ext cx="2011680" cy="1051560"/>
          </a:xfrm>
          <a:prstGeom prst="roundRect">
            <a:avLst>
              <a:gd name="adj" fmla="val 10435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pic>
        <p:nvPicPr>
          <p:cNvPr id="4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4" y="1078992"/>
            <a:ext cx="594360" cy="594360"/>
          </a:xfrm>
          <a:prstGeom prst="rect">
            <a:avLst/>
          </a:prstGeom>
        </p:spPr>
      </p:pic>
      <p:sp>
        <p:nvSpPr>
          <p:cNvPr id="44" name="Text 38"/>
          <p:cNvSpPr/>
          <p:nvPr/>
        </p:nvSpPr>
        <p:spPr>
          <a:xfrm>
            <a:off x="6720840" y="17099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6830568" y="2212848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6867144" y="2212848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View own records</a:t>
            </a:r>
            <a:endParaRPr lang="en-US" sz="900" dirty="0"/>
          </a:p>
        </p:txBody>
      </p:sp>
      <p:sp>
        <p:nvSpPr>
          <p:cNvPr id="47" name="Shape 41"/>
          <p:cNvSpPr/>
          <p:nvPr/>
        </p:nvSpPr>
        <p:spPr>
          <a:xfrm>
            <a:off x="6830568" y="2615184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6867144" y="2615184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Book appointments</a:t>
            </a:r>
            <a:endParaRPr lang="en-US" sz="900" dirty="0"/>
          </a:p>
        </p:txBody>
      </p:sp>
      <p:sp>
        <p:nvSpPr>
          <p:cNvPr id="49" name="Shape 43"/>
          <p:cNvSpPr/>
          <p:nvPr/>
        </p:nvSpPr>
        <p:spPr>
          <a:xfrm>
            <a:off x="6830568" y="3017520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6867144" y="3017520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View prescriptions</a:t>
            </a:r>
            <a:endParaRPr lang="en-US" sz="900" dirty="0"/>
          </a:p>
        </p:txBody>
      </p:sp>
      <p:sp>
        <p:nvSpPr>
          <p:cNvPr id="51" name="Shape 45"/>
          <p:cNvSpPr/>
          <p:nvPr/>
        </p:nvSpPr>
        <p:spPr>
          <a:xfrm>
            <a:off x="6830568" y="3419856"/>
            <a:ext cx="1792224" cy="329184"/>
          </a:xfrm>
          <a:prstGeom prst="roundRect">
            <a:avLst>
              <a:gd name="adj" fmla="val 1666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6867144" y="3419856"/>
            <a:ext cx="17190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View invoices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Requirements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" y="960120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29768" y="1069848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9768" y="1069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41832" y="960120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&amp; Authorization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54880" y="960120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864608" y="1069848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64608" y="10698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76672" y="960120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(CRUD)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1728216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" y="1837944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" y="1837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41832" y="1728216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Registration &amp; Management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1728216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64608" y="1837944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64608" y="18379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76672" y="1728216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Scheduling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2496312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9768" y="2606040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41832" y="2496312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Records &amp; History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0" y="2496312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864608" y="2606040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64608" y="2606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76672" y="2496312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Prescription Management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20040" y="3264408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29768" y="3374136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29768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41832" y="3264408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&amp; Invoicing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754880" y="3264408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64608" y="3374136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64608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376672" y="3264408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System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320040" y="4032504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29768" y="4142232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" y="4142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41832" y="4032504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Analytics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754880" y="4032504"/>
            <a:ext cx="420624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864608" y="4142232"/>
            <a:ext cx="402336" cy="402336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64608" y="4142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76672" y="4032504"/>
            <a:ext cx="3520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Tracking</a:t>
            </a:r>
            <a:endParaRPr lang="en-US" sz="11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14A8A6"/>
          </a:solidFill>
          <a:ln w="12700">
            <a:solidFill>
              <a:srgbClr val="14A8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59536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Multi-layer architecture with Firebase + ASP.NET Core backend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371600" y="1335024"/>
            <a:ext cx="6400800" cy="512064"/>
          </a:xfrm>
          <a:prstGeom prst="roundRect">
            <a:avLst>
              <a:gd name="adj" fmla="val 17857"/>
            </a:avLst>
          </a:prstGeom>
          <a:solidFill>
            <a:srgbClr val="21295C"/>
          </a:solidFill>
          <a:ln w="1016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71600" y="1335024"/>
            <a:ext cx="6400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(Browser / Mobile)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34840" y="1847088"/>
            <a:ext cx="0" cy="109728"/>
          </a:xfrm>
          <a:prstGeom prst="line">
            <a:avLst/>
          </a:prstGeom>
          <a:noFill/>
          <a:ln w="25400">
            <a:solidFill>
              <a:srgbClr val="A8DA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1956816"/>
            <a:ext cx="6400800" cy="512064"/>
          </a:xfrm>
          <a:prstGeom prst="roundRect">
            <a:avLst>
              <a:gd name="adj" fmla="val 17857"/>
            </a:avLst>
          </a:prstGeom>
          <a:solidFill>
            <a:srgbClr val="0E7C7B"/>
          </a:solidFill>
          <a:ln w="1016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371600" y="1956816"/>
            <a:ext cx="6400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+ Vite  (Frontend)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34840" y="2468880"/>
            <a:ext cx="0" cy="109728"/>
          </a:xfrm>
          <a:prstGeom prst="line">
            <a:avLst/>
          </a:prstGeom>
          <a:noFill/>
          <a:ln w="25400">
            <a:solidFill>
              <a:srgbClr val="A8DA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578608"/>
            <a:ext cx="6400800" cy="512064"/>
          </a:xfrm>
          <a:prstGeom prst="roundRect">
            <a:avLst>
              <a:gd name="adj" fmla="val 17857"/>
            </a:avLst>
          </a:prstGeom>
          <a:solidFill>
            <a:srgbClr val="1B4F72"/>
          </a:solidFill>
          <a:ln w="1016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71600" y="2578608"/>
            <a:ext cx="6400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Authentication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34840" y="3090672"/>
            <a:ext cx="0" cy="109728"/>
          </a:xfrm>
          <a:prstGeom prst="line">
            <a:avLst/>
          </a:prstGeom>
          <a:noFill/>
          <a:ln w="25400">
            <a:solidFill>
              <a:srgbClr val="A8DA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3200400"/>
            <a:ext cx="6400800" cy="512064"/>
          </a:xfrm>
          <a:prstGeom prst="roundRect">
            <a:avLst>
              <a:gd name="adj" fmla="val 17857"/>
            </a:avLst>
          </a:prstGeom>
          <a:solidFill>
            <a:srgbClr val="117A65"/>
          </a:solidFill>
          <a:ln w="1016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371600" y="3200400"/>
            <a:ext cx="6400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Database  (NoSQL)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34840" y="3712464"/>
            <a:ext cx="0" cy="109728"/>
          </a:xfrm>
          <a:prstGeom prst="line">
            <a:avLst/>
          </a:prstGeom>
          <a:noFill/>
          <a:ln w="25400">
            <a:solidFill>
              <a:srgbClr val="A8DA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71600" y="3822192"/>
            <a:ext cx="6400800" cy="512064"/>
          </a:xfrm>
          <a:prstGeom prst="roundRect">
            <a:avLst>
              <a:gd name="adj" fmla="val 17857"/>
            </a:avLst>
          </a:prstGeom>
          <a:solidFill>
            <a:srgbClr val="1B4F72"/>
          </a:solidFill>
          <a:ln w="1016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371600" y="3822192"/>
            <a:ext cx="6400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Services  (Backend API)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Critical architectural decision — enables scalability and rapid development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 smtClean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</a:t>
            </a: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2" y="887241"/>
            <a:ext cx="4023359" cy="1378334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2" y="887241"/>
            <a:ext cx="4023359" cy="326775"/>
          </a:xfrm>
          <a:prstGeom prst="roundRect">
            <a:avLst>
              <a:gd name="adj" fmla="val 25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2" y="887241"/>
            <a:ext cx="4023359" cy="326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1" y="1390161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React 18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1" y="1390161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TypeScript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1" y="1938801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Vite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423161" y="1938801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Tailwind CSS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2" y="887241"/>
            <a:ext cx="4023359" cy="1378334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2" y="887241"/>
            <a:ext cx="4023359" cy="326775"/>
          </a:xfrm>
          <a:prstGeom prst="roundRect">
            <a:avLst>
              <a:gd name="adj" fmla="val 25000"/>
            </a:avLst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2" y="887241"/>
            <a:ext cx="4023359" cy="326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1" y="1390161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/>
              <a:t>ASP.NET Core REST API</a:t>
            </a:r>
          </a:p>
        </p:txBody>
      </p:sp>
      <p:sp>
        <p:nvSpPr>
          <p:cNvPr id="15" name="Text 13"/>
          <p:cNvSpPr/>
          <p:nvPr/>
        </p:nvSpPr>
        <p:spPr>
          <a:xfrm>
            <a:off x="6858001" y="1390161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/>
              <a:t>API Endpoints</a:t>
            </a:r>
          </a:p>
        </p:txBody>
      </p:sp>
      <p:sp>
        <p:nvSpPr>
          <p:cNvPr id="16" name="Text 14"/>
          <p:cNvSpPr/>
          <p:nvPr/>
        </p:nvSpPr>
        <p:spPr>
          <a:xfrm>
            <a:off x="4892041" y="1938801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/>
              <a:t>Business Logic Layer</a:t>
            </a:r>
          </a:p>
        </p:txBody>
      </p:sp>
      <p:sp>
        <p:nvSpPr>
          <p:cNvPr id="17" name="Text 15"/>
          <p:cNvSpPr/>
          <p:nvPr/>
        </p:nvSpPr>
        <p:spPr>
          <a:xfrm>
            <a:off x="6858001" y="1938801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/>
              <a:t>C#</a:t>
            </a:r>
          </a:p>
        </p:txBody>
      </p:sp>
      <p:sp>
        <p:nvSpPr>
          <p:cNvPr id="18" name="Shape 16"/>
          <p:cNvSpPr/>
          <p:nvPr/>
        </p:nvSpPr>
        <p:spPr>
          <a:xfrm>
            <a:off x="320041" y="2423015"/>
            <a:ext cx="4023359" cy="1391951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1" y="2423015"/>
            <a:ext cx="4023359" cy="326775"/>
          </a:xfrm>
          <a:prstGeom prst="roundRect">
            <a:avLst>
              <a:gd name="adj" fmla="val 25000"/>
            </a:avLst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1" y="2423015"/>
            <a:ext cx="4023359" cy="326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2925935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Firebase Firestore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423160" y="2925935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NoSQL Collections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3474575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Real-time Sync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423160" y="3474575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Offline Support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54881" y="2423015"/>
            <a:ext cx="4023359" cy="1391951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1" y="2423015"/>
            <a:ext cx="4023359" cy="326775"/>
          </a:xfrm>
          <a:prstGeom prst="roundRect">
            <a:avLst>
              <a:gd name="adj" fmla="val 25000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1" y="2423015"/>
            <a:ext cx="4023359" cy="326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92040" y="2925935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 err="1" smtClean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858000" y="2925935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Firebase Console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92040" y="3474575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GitHub CI/CD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858000" y="3474575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Environment Config</a:t>
            </a:r>
            <a:endParaRPr lang="en-US" sz="1050" dirty="0"/>
          </a:p>
        </p:txBody>
      </p:sp>
      <p:sp>
        <p:nvSpPr>
          <p:cNvPr id="46" name="Shape 16"/>
          <p:cNvSpPr/>
          <p:nvPr/>
        </p:nvSpPr>
        <p:spPr>
          <a:xfrm>
            <a:off x="320042" y="3958789"/>
            <a:ext cx="4023359" cy="1051559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7" name="Shape 17"/>
          <p:cNvSpPr/>
          <p:nvPr/>
        </p:nvSpPr>
        <p:spPr>
          <a:xfrm>
            <a:off x="320042" y="3958789"/>
            <a:ext cx="4023359" cy="326775"/>
          </a:xfrm>
          <a:prstGeom prst="roundRect">
            <a:avLst>
              <a:gd name="adj" fmla="val 25000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rgbClr val="117A65"/>
            </a:solidFill>
            <a:prstDash val="solid"/>
          </a:ln>
        </p:spPr>
      </p:sp>
      <p:sp>
        <p:nvSpPr>
          <p:cNvPr id="48" name="Text 18"/>
          <p:cNvSpPr/>
          <p:nvPr/>
        </p:nvSpPr>
        <p:spPr>
          <a:xfrm>
            <a:off x="320042" y="3958789"/>
            <a:ext cx="4023359" cy="3267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dirty="0"/>
              <a:t>Security &amp; Authentication</a:t>
            </a:r>
            <a:endParaRPr lang="en-US" sz="1300" dirty="0"/>
          </a:p>
        </p:txBody>
      </p:sp>
      <p:sp>
        <p:nvSpPr>
          <p:cNvPr id="49" name="Text 19"/>
          <p:cNvSpPr/>
          <p:nvPr/>
        </p:nvSpPr>
        <p:spPr>
          <a:xfrm>
            <a:off x="457201" y="4461709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 smtClean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/>
              <a:t>Firebase Authentication</a:t>
            </a:r>
          </a:p>
        </p:txBody>
      </p:sp>
      <p:sp>
        <p:nvSpPr>
          <p:cNvPr id="50" name="Text 20"/>
          <p:cNvSpPr/>
          <p:nvPr/>
        </p:nvSpPr>
        <p:spPr>
          <a:xfrm>
            <a:off x="2423161" y="4461709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r>
              <a:rPr lang="en-US" sz="1050" dirty="0"/>
              <a:t>Audit Logging</a:t>
            </a:r>
          </a:p>
        </p:txBody>
      </p:sp>
      <p:sp>
        <p:nvSpPr>
          <p:cNvPr id="51" name="Text 21"/>
          <p:cNvSpPr/>
          <p:nvPr/>
        </p:nvSpPr>
        <p:spPr>
          <a:xfrm>
            <a:off x="457201" y="5010349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52" name="Text 22"/>
          <p:cNvSpPr/>
          <p:nvPr/>
        </p:nvSpPr>
        <p:spPr>
          <a:xfrm>
            <a:off x="2423161" y="5010349"/>
            <a:ext cx="1836751" cy="340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</a:t>
            </a:r>
            <a:r>
              <a:rPr lang="en-US" sz="2600" b="1" dirty="0" smtClean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entity-relationship model of the Smart Clinic database</a:t>
            </a:r>
            <a:endParaRPr lang="en-US" sz="1300" dirty="0"/>
          </a:p>
        </p:txBody>
      </p:sp>
      <p:pic>
        <p:nvPicPr>
          <p:cNvPr id="5" name="ER Diagram 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20" y="1110000"/>
            <a:ext cx="7190960" cy="3733500"/>
          </a:xfrm>
          <a:prstGeom prst="rect">
            <a:avLst/>
          </a:prstGeom>
        </p:spPr>
      </p:pic>
      <p:sp>
        <p:nvSpPr>
          <p:cNvPr id="6" name="View Live Site Button">
            <a:hlinkClick r:id="rId4"/>
          </p:cNvPr>
          <p:cNvSpPr/>
          <p:nvPr/>
        </p:nvSpPr>
        <p:spPr>
          <a:xfrm>
            <a:off x="7035480" y="660000"/>
            <a:ext cx="1742760" cy="380000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u="none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Live Site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Server → Firebase Migration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engineering decision — showing problem-solving and adaptability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200400" cy="3474720"/>
          </a:xfrm>
          <a:prstGeom prst="roundRect">
            <a:avLst>
              <a:gd name="adj" fmla="val 4286"/>
            </a:avLst>
          </a:prstGeom>
          <a:solidFill>
            <a:srgbClr val="1B2A3B"/>
          </a:solidFill>
          <a:ln w="25400">
            <a:solidFill>
              <a:srgbClr val="E74C3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ar-EG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Server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Required relational modeling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0482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Schema changes require migrations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4505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Hosting complexity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85292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Longer setup and configuration time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25526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real-time sync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703320" y="2834640"/>
            <a:ext cx="1371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2633472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566160" y="3063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03520" y="1097280"/>
            <a:ext cx="3474720" cy="3474720"/>
          </a:xfrm>
          <a:prstGeom prst="roundRect">
            <a:avLst>
              <a:gd name="adj" fmla="val 3947"/>
            </a:avLst>
          </a:prstGeom>
          <a:solidFill>
            <a:srgbClr val="0D2E1F"/>
          </a:solidFill>
          <a:ln w="254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0352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Firebase Firestore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0" y="16459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Managed infrastructure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0" y="2048256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Flexible NoSQL schema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245059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Real-time listeners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0" y="28529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Easy deployment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3255264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Built-in auth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</a:p>
          <a:p>
            <a:pPr algn="ctr"/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development and easier maintenance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 err="1"/>
              <a:t>Firestore</a:t>
            </a:r>
            <a:r>
              <a:rPr lang="en-US" sz="2800" b="1" dirty="0"/>
              <a:t> Collections Design</a:t>
            </a:r>
            <a:endParaRPr lang="en-US" sz="2600" b="1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smtClean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</p:txBody>
      </p:sp>
      <p:pic>
        <p:nvPicPr>
          <p:cNvPr id="42" name="Picture 4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8" y="684156"/>
            <a:ext cx="6011626" cy="44988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&amp; Security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1508760" cy="640080"/>
          </a:xfrm>
          <a:prstGeom prst="roundRect">
            <a:avLst>
              <a:gd name="adj" fmla="val 14286"/>
            </a:avLst>
          </a:prstGeom>
          <a:solidFill>
            <a:srgbClr val="0E7C7B"/>
          </a:solidFill>
          <a:ln w="1270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Login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783080" y="1325880"/>
            <a:ext cx="228600" cy="0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11680" y="1005840"/>
            <a:ext cx="1508760" cy="640080"/>
          </a:xfrm>
          <a:prstGeom prst="roundRect">
            <a:avLst>
              <a:gd name="adj" fmla="val 14286"/>
            </a:avLst>
          </a:prstGeom>
          <a:solidFill>
            <a:srgbClr val="0D2137"/>
          </a:solidFill>
          <a:ln w="1270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11680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20440" y="1325880"/>
            <a:ext cx="228600" cy="0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1005840"/>
            <a:ext cx="1508760" cy="640080"/>
          </a:xfrm>
          <a:prstGeom prst="roundRect">
            <a:avLst>
              <a:gd name="adj" fmla="val 14286"/>
            </a:avLst>
          </a:prstGeom>
          <a:solidFill>
            <a:srgbClr val="0D2137"/>
          </a:solidFill>
          <a:ln w="1270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49040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ID Token Generated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57800" y="1325880"/>
            <a:ext cx="228600" cy="0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0" y="1005840"/>
            <a:ext cx="1508760" cy="640080"/>
          </a:xfrm>
          <a:prstGeom prst="roundRect">
            <a:avLst>
              <a:gd name="adj" fmla="val 14286"/>
            </a:avLst>
          </a:prstGeom>
          <a:solidFill>
            <a:srgbClr val="0D2137"/>
          </a:solidFill>
          <a:ln w="1270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486400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Verification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95160" y="1325880"/>
            <a:ext cx="228600" cy="0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1005840"/>
            <a:ext cx="1508760" cy="640080"/>
          </a:xfrm>
          <a:prstGeom prst="roundRect">
            <a:avLst>
              <a:gd name="adj" fmla="val 14286"/>
            </a:avLst>
          </a:prstGeom>
          <a:solidFill>
            <a:srgbClr val="0E7C7B"/>
          </a:solidFill>
          <a:ln w="1270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223760" y="10058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Access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" y="1874520"/>
            <a:ext cx="4206240" cy="1371600"/>
          </a:xfrm>
          <a:prstGeom prst="roundRect">
            <a:avLst>
              <a:gd name="adj" fmla="val 8000"/>
            </a:avLst>
          </a:prstGeom>
          <a:solidFill>
            <a:srgbClr val="F0F7F7"/>
          </a:solidFill>
          <a:ln w="12700">
            <a:solidFill>
              <a:srgbClr val="A8DA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0"/>
            <a:ext cx="502920" cy="502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051560" y="19659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Firebase Auth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51560" y="23317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Email/password authentication with secure token management and session handling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709160" y="1874520"/>
            <a:ext cx="4206240" cy="1371600"/>
          </a:xfrm>
          <a:prstGeom prst="roundRect">
            <a:avLst>
              <a:gd name="adj" fmla="val 8000"/>
            </a:avLst>
          </a:prstGeom>
          <a:solidFill>
            <a:srgbClr val="F0F7F7"/>
          </a:solidFill>
          <a:ln w="12700">
            <a:solidFill>
              <a:srgbClr val="A8DA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011680"/>
            <a:ext cx="502920" cy="5029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486400" y="19659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Access Control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5486400" y="23317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 with distinct permissions — Admin, Doctor, Receptionist, Patient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274320" y="3429000"/>
            <a:ext cx="4206240" cy="1371600"/>
          </a:xfrm>
          <a:prstGeom prst="roundRect">
            <a:avLst>
              <a:gd name="adj" fmla="val 8000"/>
            </a:avLst>
          </a:prstGeom>
          <a:solidFill>
            <a:srgbClr val="F0F7F7"/>
          </a:solidFill>
          <a:ln w="12700">
            <a:solidFill>
              <a:srgbClr val="A8DA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566160"/>
            <a:ext cx="502920" cy="50292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1051560" y="35204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Firestore Security Rules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1051560" y="3886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rules enforce data access at the database level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4709160" y="3429000"/>
            <a:ext cx="4206240" cy="1371600"/>
          </a:xfrm>
          <a:prstGeom prst="roundRect">
            <a:avLst>
              <a:gd name="adj" fmla="val 8000"/>
            </a:avLst>
          </a:prstGeom>
          <a:solidFill>
            <a:srgbClr val="F0F7F7"/>
          </a:solidFill>
          <a:ln w="12700">
            <a:solidFill>
              <a:srgbClr val="A8DADC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566160"/>
            <a:ext cx="502920" cy="50292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486400" y="352044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Logging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5486400" y="3886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system actions logged with user, timestamp, and action details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— Login &amp; </a:t>
            </a:r>
            <a:r>
              <a:rPr lang="en-US" sz="2600" b="1" dirty="0" smtClean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3774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604" y="840441"/>
            <a:ext cx="5144321" cy="416589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808840"/>
            <a:ext cx="4988965" cy="42291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— </a:t>
            </a:r>
            <a:r>
              <a:rPr lang="en-US" sz="2600" b="1" dirty="0" smtClean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Dashboard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010" y="842036"/>
            <a:ext cx="7716482" cy="4191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887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— </a:t>
            </a:r>
            <a:r>
              <a:rPr lang="en-US" sz="2600" b="1" dirty="0" smtClean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 Dashboard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3774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165" y="855194"/>
            <a:ext cx="8219075" cy="416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087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 smtClean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— Patient Dashboard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3774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861312"/>
            <a:ext cx="8229600" cy="415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535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 </a:t>
            </a:r>
            <a:r>
              <a:rPr lang="en-US" sz="2600" b="1" dirty="0" smtClean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—Receptionist </a:t>
            </a: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3774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165" y="855194"/>
            <a:ext cx="8219075" cy="415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84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Strategy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2743200" cy="1097280"/>
          </a:xfrm>
          <a:prstGeom prst="roundRect">
            <a:avLst>
              <a:gd name="adj" fmla="val 10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51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Functional Testing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1463040"/>
            <a:ext cx="274320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tested against requirements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743200" cy="1097280"/>
          </a:xfrm>
          <a:prstGeom prst="roundRect">
            <a:avLst>
              <a:gd name="adj" fmla="val 10000"/>
            </a:avLst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00400" y="1051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 Testing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463040"/>
            <a:ext cx="274320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↔ Firebase ↔ Backend interactions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005840"/>
            <a:ext cx="2743200" cy="1097280"/>
          </a:xfrm>
          <a:prstGeom prst="roundRect">
            <a:avLst>
              <a:gd name="adj" fmla="val 10000"/>
            </a:avLst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26480" y="10515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Acceptance Testing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26480" y="1463040"/>
            <a:ext cx="274320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 scenarios &amp; feedback cycles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4320560"/>
              </p:ext>
            </p:extLst>
          </p:nvPr>
        </p:nvGraphicFramePr>
        <p:xfrm>
          <a:off x="274320" y="2286000"/>
          <a:ext cx="8595360" cy="2651761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882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Login with valid credentials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Redirect to dashboard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 appointment (no conflict)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Appointment created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 appointment (conflict)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message shown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patient invoice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invoice created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without permission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denied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3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prescription by doctor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 saved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Pipeline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14A8A6"/>
          </a:solidFill>
          <a:ln w="12700">
            <a:solidFill>
              <a:srgbClr val="14A8A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from development to production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1828800" cy="2194560"/>
          </a:xfrm>
          <a:prstGeom prst="roundRect">
            <a:avLst>
              <a:gd name="adj" fmla="val 7500"/>
            </a:avLst>
          </a:prstGeom>
          <a:solidFill>
            <a:schemeClr val="accent6">
              <a:lumMod val="60000"/>
              <a:lumOff val="40000"/>
            </a:schemeClr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💻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(Local)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2194560"/>
            <a:ext cx="27432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1097280"/>
            <a:ext cx="1828800" cy="2194560"/>
          </a:xfrm>
          <a:prstGeom prst="roundRect">
            <a:avLst>
              <a:gd name="adj" fmla="val 7500"/>
            </a:avLst>
          </a:prstGeom>
          <a:solidFill>
            <a:schemeClr val="accent2">
              <a:lumMod val="75000"/>
            </a:schemeClr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517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📦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651760" y="20116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80560" y="2194560"/>
            <a:ext cx="27432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54880" y="1097280"/>
            <a:ext cx="1828800" cy="2194560"/>
          </a:xfrm>
          <a:prstGeom prst="roundRect">
            <a:avLst>
              <a:gd name="adj" fmla="val 7500"/>
            </a:avLst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⚙️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754880" y="20116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Netlify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83680" y="2194560"/>
            <a:ext cx="274320" cy="0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1097280"/>
            <a:ext cx="1828800" cy="2194560"/>
          </a:xfrm>
          <a:prstGeom prst="roundRect">
            <a:avLst>
              <a:gd name="adj" fmla="val 7500"/>
            </a:avLst>
          </a:prstGeom>
          <a:solidFill>
            <a:schemeClr val="accent6">
              <a:lumMod val="75000"/>
            </a:schemeClr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580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🌐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858000" y="20116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520440"/>
            <a:ext cx="4160520" cy="1463040"/>
          </a:xfrm>
          <a:prstGeom prst="roundRect">
            <a:avLst>
              <a:gd name="adj" fmla="val 7500"/>
            </a:avLst>
          </a:prstGeom>
          <a:solidFill>
            <a:schemeClr val="accent5">
              <a:lumMod val="50000"/>
            </a:schemeClr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56616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A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Firebase Console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• Firestore • Storage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&amp; rules management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520440"/>
            <a:ext cx="4160520" cy="1463040"/>
          </a:xfrm>
          <a:prstGeom prst="roundRect">
            <a:avLst>
              <a:gd name="adj" fmla="val 7500"/>
            </a:avLst>
          </a:prstGeom>
          <a:solidFill>
            <a:schemeClr val="accent5">
              <a:lumMod val="75000"/>
            </a:schemeClr>
          </a:solidFill>
          <a:ln w="12700">
            <a:solidFill>
              <a:srgbClr val="14A8A6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63440" y="356616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8DAD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Netlify Dashboard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0" y="393192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deploys </a:t>
            </a:r>
            <a:endParaRPr lang="en-US" sz="1000" dirty="0" smtClean="0">
              <a:solidFill>
                <a:srgbClr val="E2EAF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000" dirty="0" smtClean="0">
                <a:solidFill>
                  <a:srgbClr val="E2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</a:t>
            </a:r>
            <a:r>
              <a:rPr lang="en-US" sz="1000" dirty="0">
                <a:solidFill>
                  <a:srgbClr val="E2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management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68654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Lessons Learned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641729"/>
              </p:ext>
            </p:extLst>
          </p:nvPr>
        </p:nvGraphicFramePr>
        <p:xfrm>
          <a:off x="274320" y="960120"/>
          <a:ext cx="8595360" cy="402336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046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Challenge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4C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Lesson Learned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→ Firebase migration mid-project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data model before choosing DB; NoSQL needs different thinking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Role-based security with Firestore rules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Server-side rules are essential — never rely on client-only checks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smtClean="0"/>
                        <a:t>Implementing real-time updates with </a:t>
                      </a:r>
                      <a:r>
                        <a:rPr lang="en-US" sz="1100" dirty="0" err="1" smtClean="0"/>
                        <a:t>Firestore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smtClean="0"/>
                        <a:t>Efficient data synchronization improves user experience and system responsiveness.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46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coordination &amp; task division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Agile sprints + daily standups improved delivery speed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A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 &amp; Roadmap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772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enhancements beyond current version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359152" y="1078992"/>
            <a:ext cx="530352" cy="256032"/>
          </a:xfrm>
          <a:prstGeom prst="roundRect">
            <a:avLst>
              <a:gd name="adj" fmla="val 2857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59152" y="1078992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7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18872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12070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 App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" y="19202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/ Flutter cross-platform app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154680" y="100584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239512" y="1078992"/>
            <a:ext cx="530352" cy="256032"/>
          </a:xfrm>
          <a:prstGeom prst="roundRect">
            <a:avLst>
              <a:gd name="adj" fmla="val 2857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39512" y="1078992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7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9272" y="118872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931920" y="12070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SMS Notifications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291840" y="19202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Twilio integration for appointment reminders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35040" y="100584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19872" y="1078992"/>
            <a:ext cx="530352" cy="256032"/>
          </a:xfrm>
          <a:prstGeom prst="roundRect">
            <a:avLst>
              <a:gd name="adj" fmla="val 2857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19872" y="1078992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7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18872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812280" y="12070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6172200" y="19202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Stripe / PayPal payment gateway integration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4320" y="297180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2359152" y="3044952"/>
            <a:ext cx="530352" cy="256032"/>
          </a:xfrm>
          <a:prstGeom prst="roundRect">
            <a:avLst>
              <a:gd name="adj" fmla="val 2857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359152" y="3044952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700" dirty="0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" y="3154680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10412" y="3223457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/>
              <a:t>File &amp; Document Management</a:t>
            </a:r>
          </a:p>
        </p:txBody>
      </p:sp>
      <p:sp>
        <p:nvSpPr>
          <p:cNvPr id="28" name="Text 22"/>
          <p:cNvSpPr/>
          <p:nvPr/>
        </p:nvSpPr>
        <p:spPr>
          <a:xfrm>
            <a:off x="411480" y="388620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/>
              <a:t>Upload and manage medical reports, scans, and laboratory results using Firebase Storage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3154680" y="297180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5239512" y="3044952"/>
            <a:ext cx="530352" cy="256032"/>
          </a:xfrm>
          <a:prstGeom prst="roundRect">
            <a:avLst>
              <a:gd name="adj" fmla="val 2857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239512" y="3044952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7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72" y="3154680"/>
            <a:ext cx="502920" cy="50292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931920" y="31729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Multi-Clinic Support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3291840" y="388620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SaaS model for multiple clinic instances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21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109728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960120"/>
            <a:ext cx="5394960" cy="3977640"/>
          </a:xfrm>
          <a:prstGeom prst="roundRect">
            <a:avLst>
              <a:gd name="adj" fmla="val 3448"/>
            </a:avLst>
          </a:prstGeom>
          <a:solidFill>
            <a:srgbClr val="F0F7F7"/>
          </a:solidFill>
          <a:ln w="6350">
            <a:solidFill>
              <a:srgbClr val="E2EA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058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Achieved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Full-stack clinic management system built and deployed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Role-based access for 4 user types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560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Real-time data with Firebase Firestore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SQL → Firebase migration completed successfully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3657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Automated billing, prescriptions &amp; audit logs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4206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Deployed live on Netlify with CI/CD pipeline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0" y="1005840"/>
            <a:ext cx="1463040" cy="1691640"/>
          </a:xfrm>
          <a:prstGeom prst="roundRect">
            <a:avLst>
              <a:gd name="adj" fmla="val 7500"/>
            </a:avLst>
          </a:prstGeom>
          <a:solidFill>
            <a:srgbClr val="0D2137"/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52160" y="12801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 smtClean="0">
                <a:solidFill>
                  <a:srgbClr val="14A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852160" y="20116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52360" y="1005840"/>
            <a:ext cx="1463040" cy="1691640"/>
          </a:xfrm>
          <a:prstGeom prst="roundRect">
            <a:avLst>
              <a:gd name="adj" fmla="val 7500"/>
            </a:avLst>
          </a:prstGeom>
          <a:solidFill>
            <a:srgbClr val="0D2137"/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52360" y="128016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4A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7452360" y="20116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52160" y="2971800"/>
            <a:ext cx="1463040" cy="1691640"/>
          </a:xfrm>
          <a:prstGeom prst="roundRect">
            <a:avLst>
              <a:gd name="adj" fmla="val 7500"/>
            </a:avLst>
          </a:prstGeom>
          <a:solidFill>
            <a:srgbClr val="0D2137"/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52160" y="3246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 smtClean="0">
                <a:solidFill>
                  <a:srgbClr val="14A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5852160" y="3977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87563" y="2971800"/>
            <a:ext cx="1585398" cy="1691640"/>
          </a:xfrm>
          <a:prstGeom prst="roundRect">
            <a:avLst>
              <a:gd name="adj" fmla="val 7500"/>
            </a:avLst>
          </a:prstGeom>
          <a:solidFill>
            <a:srgbClr val="0D2137"/>
          </a:solidFill>
          <a:ln w="12700">
            <a:solidFill>
              <a:srgbClr val="0E7C7B"/>
            </a:solidFill>
            <a:prstDash val="solid"/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52360" y="3246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14A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</a:t>
            </a:r>
          </a:p>
          <a:p>
            <a:pPr algn="ctr"/>
            <a:r>
              <a:rPr lang="en-US" sz="2000" b="1" dirty="0">
                <a:solidFill>
                  <a:srgbClr val="14A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52360" y="3977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4663440"/>
            <a:ext cx="8595360" cy="365760"/>
          </a:xfrm>
          <a:prstGeom prst="roundRect">
            <a:avLst>
              <a:gd name="adj" fmla="val 25000"/>
            </a:avLst>
          </a:prstGeom>
          <a:solidFill>
            <a:srgbClr val="0E7C7B">
              <a:alpha val="85000"/>
            </a:srgbClr>
          </a:solidFill>
          <a:ln w="12700">
            <a:solidFill>
              <a:srgbClr val="14A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Clinic Management System successfully designed, implemented, tested, and deployed using modern cloud technologies.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0E7C7B">
              <a:alpha val="20000"/>
            </a:srgbClr>
          </a:solidFill>
          <a:ln w="12700">
            <a:solidFill>
              <a:srgbClr val="0E7C7B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371600" y="2743200"/>
            <a:ext cx="3657600" cy="3657600"/>
          </a:xfrm>
          <a:prstGeom prst="ellipse">
            <a:avLst/>
          </a:prstGeom>
          <a:solidFill>
            <a:srgbClr val="14A8A6">
              <a:alpha val="20000"/>
            </a:srgbClr>
          </a:solidFill>
          <a:ln w="12700">
            <a:solidFill>
              <a:srgbClr val="14A8A6">
                <a:alpha val="20000"/>
              </a:srgbClr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722376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057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5200" dirty="0"/>
          </a:p>
        </p:txBody>
      </p:sp>
      <p:sp>
        <p:nvSpPr>
          <p:cNvPr id="7" name="Shape 4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A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Clinic Management System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38221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 Graduation Project  •  2025 – 2026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1084</Words>
  <Application>Microsoft Office PowerPoint</Application>
  <PresentationFormat>On-screen Show (16:9)</PresentationFormat>
  <Paragraphs>327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Clinic Management System</dc:title>
  <dc:subject>PptxGenJS Presentation</dc:subject>
  <dc:creator>PptxGenJS</dc:creator>
  <cp:lastModifiedBy>Windows User</cp:lastModifiedBy>
  <cp:revision>25</cp:revision>
  <dcterms:created xsi:type="dcterms:W3CDTF">2026-06-25T22:04:01Z</dcterms:created>
  <dcterms:modified xsi:type="dcterms:W3CDTF">2026-06-27T21:39:23Z</dcterms:modified>
</cp:coreProperties>
</file>