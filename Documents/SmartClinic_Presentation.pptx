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80" r:id="rId16"/>
    <p:sldId id="281" r:id="rId17"/>
    <p:sldId id="282" r:id="rId18"/>
    <p:sldId id="283" r:id="rId19"/>
    <p:sldId id="274" r:id="rId20"/>
    <p:sldId id="284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7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03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76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59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01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36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2H1RRrW1dBXQI41IjdYj5B3wa31-83P9/view?usp=drivesdk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E7C7B">
              <a:alpha val="25000"/>
            </a:srgbClr>
          </a:solidFill>
          <a:ln w="12700">
            <a:solidFill>
              <a:srgbClr val="0E7C7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14A8A6">
              <a:alpha val="35000"/>
            </a:srgbClr>
          </a:solidFill>
          <a:ln w="12700">
            <a:solidFill>
              <a:srgbClr val="14A8A6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4572000" cy="27432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871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02299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Clinic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554480" y="166307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2303150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42202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 •  Digital Egypt Pioneers Initiative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9751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E7C7B">
              <a:alpha val="25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91579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314439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.NET Development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89751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E7C7B">
              <a:alpha val="25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291579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91840" y="314439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2624" y="289751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E7C7B">
              <a:alpha val="25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291579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26480" y="315354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Mahmoud 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Raslan</a:t>
            </a:r>
            <a:endParaRPr lang="en-US" sz="105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</a:t>
            </a:r>
            <a:r>
              <a:rPr lang="en-US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376619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89778" l="9778" r="90667">
                        <a14:foregroundMark x1="71111" y1="22222" x2="83111" y2="36889"/>
                        <a14:foregroundMark x1="83111" y1="39111" x2="83111" y2="56000"/>
                        <a14:foregroundMark x1="83111" y1="61333" x2="73333" y2="74222"/>
                        <a14:foregroundMark x1="56889" y1="84889" x2="36000" y2="77778"/>
                        <a14:foregroundMark x1="36000" y1="81778" x2="18222" y2="63111"/>
                        <a14:backgroundMark x1="53778" y1="86222" x2="61778" y2="83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256" y="686661"/>
            <a:ext cx="1614487" cy="1614487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68" b="89268" l="9574" r="95213">
                        <a14:foregroundMark x1="10638" y1="70732" x2="12766" y2="68293"/>
                        <a14:foregroundMark x1="13298" y1="68293" x2="94681" y2="67805"/>
                        <a14:foregroundMark x1="94149" y1="67805" x2="92553" y2="81463"/>
                        <a14:foregroundMark x1="10638" y1="68780" x2="9574" y2="79512"/>
                        <a14:foregroundMark x1="11170" y1="79512" x2="89894" y2="80976"/>
                        <a14:foregroundMark x1="85106" y1="73171" x2="85106" y2="77073"/>
                        <a14:foregroundMark x1="85106" y1="77073" x2="85106" y2="73171"/>
                        <a14:foregroundMark x1="69681" y1="73171" x2="67021" y2="76585"/>
                        <a14:foregroundMark x1="67021" y1="74634" x2="67021" y2="75610"/>
                        <a14:foregroundMark x1="60638" y1="76098" x2="56383" y2="76098"/>
                        <a14:foregroundMark x1="60638" y1="75122" x2="58511" y2="76098"/>
                        <a14:foregroundMark x1="59043" y1="75122" x2="64362" y2="75122"/>
                        <a14:foregroundMark x1="44149" y1="76098" x2="28191" y2="76585"/>
                        <a14:foregroundMark x1="34043" y1="74634" x2="25532" y2="74634"/>
                        <a14:foregroundMark x1="85638" y1="79512" x2="76596" y2="765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551" y="874410"/>
            <a:ext cx="1226402" cy="13373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/>
              <a:t>Team Contributions</a:t>
            </a:r>
            <a:endParaRPr lang="en-US" sz="2600" b="1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503238"/>
              </p:ext>
            </p:extLst>
          </p:nvPr>
        </p:nvGraphicFramePr>
        <p:xfrm>
          <a:off x="1079736" y="907821"/>
          <a:ext cx="6779718" cy="3493140"/>
        </p:xfrm>
        <a:graphic>
          <a:graphicData uri="http://schemas.openxmlformats.org/drawingml/2006/table">
            <a:tbl>
              <a:tblPr rtl="1" firstRow="1" bandRow="1">
                <a:tableStyleId>{74C1A8A3-306A-4EB7-A6B1-4F7E0EB9C5D6}</a:tableStyleId>
              </a:tblPr>
              <a:tblGrid>
                <a:gridCol w="2259906">
                  <a:extLst>
                    <a:ext uri="{9D8B030D-6E8A-4147-A177-3AD203B41FA5}">
                      <a16:colId xmlns:a16="http://schemas.microsoft.com/office/drawing/2014/main" val="3661819525"/>
                    </a:ext>
                  </a:extLst>
                </a:gridCol>
                <a:gridCol w="2259906">
                  <a:extLst>
                    <a:ext uri="{9D8B030D-6E8A-4147-A177-3AD203B41FA5}">
                      <a16:colId xmlns:a16="http://schemas.microsoft.com/office/drawing/2014/main" val="125989739"/>
                    </a:ext>
                  </a:extLst>
                </a:gridCol>
                <a:gridCol w="2259906">
                  <a:extLst>
                    <a:ext uri="{9D8B030D-6E8A-4147-A177-3AD203B41FA5}">
                      <a16:colId xmlns:a16="http://schemas.microsoft.com/office/drawing/2014/main" val="1478503177"/>
                    </a:ext>
                  </a:extLst>
                </a:gridCol>
              </a:tblGrid>
              <a:tr h="255672"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Team Member</a:t>
                      </a:r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/>
                        <a:t>Primary Role</a:t>
                      </a:r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Main Responsibilities</a:t>
                      </a:r>
                    </a:p>
                  </a:txBody>
                  <a:tcPr marL="45310" marR="45310" marT="22655" marB="22655" anchor="ctr"/>
                </a:tc>
                <a:extLst>
                  <a:ext uri="{0D108BD9-81ED-4DB2-BD59-A6C34878D82A}">
                    <a16:rowId xmlns:a16="http://schemas.microsoft.com/office/drawing/2014/main" val="3881316982"/>
                  </a:ext>
                </a:extLst>
              </a:tr>
              <a:tr h="845866"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b="1" dirty="0" err="1" smtClean="0"/>
                        <a:t>Anas</a:t>
                      </a:r>
                      <a:r>
                        <a:rPr lang="en-US" sz="900" b="1" dirty="0" smtClean="0"/>
                        <a:t> Mohamed El-</a:t>
                      </a:r>
                      <a:r>
                        <a:rPr lang="en-US" sz="900" b="1" dirty="0" err="1" smtClean="0"/>
                        <a:t>sayed</a:t>
                      </a:r>
                      <a:endParaRPr lang="en-US" sz="900" b="1" dirty="0"/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Backend Developer </a:t>
                      </a:r>
                      <a:r>
                        <a:rPr lang="en-US" sz="900" dirty="0" smtClean="0"/>
                        <a:t>1 + Team leader</a:t>
                      </a:r>
                      <a:endParaRPr lang="en-US" sz="900" dirty="0"/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Authentication, User Management, Admin Operations, Doctors </a:t>
                      </a:r>
                      <a:r>
                        <a:rPr lang="en-US" sz="900" dirty="0" smtClean="0"/>
                        <a:t>Management, Firebase Integration</a:t>
                      </a:r>
                      <a:endParaRPr lang="en-US" sz="900" dirty="0"/>
                    </a:p>
                  </a:txBody>
                  <a:tcPr marL="45310" marR="45310" marT="22655" marB="22655" anchor="ctr"/>
                </a:tc>
                <a:extLst>
                  <a:ext uri="{0D108BD9-81ED-4DB2-BD59-A6C34878D82A}">
                    <a16:rowId xmlns:a16="http://schemas.microsoft.com/office/drawing/2014/main" val="3514391515"/>
                  </a:ext>
                </a:extLst>
              </a:tr>
              <a:tr h="680556"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b="1" dirty="0" smtClean="0"/>
                        <a:t>Yousef Mohamed Ali</a:t>
                      </a:r>
                      <a:endParaRPr lang="en-US" sz="900" b="1" dirty="0"/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Backend Developer 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Patients Management, Appointments, Prescriptions, Invoices, Receptionist Operations</a:t>
                      </a:r>
                    </a:p>
                  </a:txBody>
                  <a:tcPr marL="45310" marR="45310" marT="22655" marB="22655" anchor="ctr"/>
                </a:tc>
                <a:extLst>
                  <a:ext uri="{0D108BD9-81ED-4DB2-BD59-A6C34878D82A}">
                    <a16:rowId xmlns:a16="http://schemas.microsoft.com/office/drawing/2014/main" val="116511184"/>
                  </a:ext>
                </a:extLst>
              </a:tr>
              <a:tr h="515245"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b="1" dirty="0" smtClean="0"/>
                        <a:t>Ahmed </a:t>
                      </a:r>
                      <a:r>
                        <a:rPr lang="en-US" sz="900" b="1" dirty="0" err="1" smtClean="0"/>
                        <a:t>Ehab</a:t>
                      </a:r>
                      <a:endParaRPr lang="en-US" sz="900" b="1" dirty="0"/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Frontend Developer 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fr-FR" sz="900" dirty="0"/>
                        <a:t>Public </a:t>
                      </a:r>
                      <a:r>
                        <a:rPr lang="fr-FR" sz="900" dirty="0" err="1"/>
                        <a:t>Website</a:t>
                      </a:r>
                      <a:r>
                        <a:rPr lang="fr-FR" sz="900" dirty="0"/>
                        <a:t>, Home Page, </a:t>
                      </a:r>
                      <a:r>
                        <a:rPr lang="fr-FR" sz="900" dirty="0" err="1"/>
                        <a:t>Authentication</a:t>
                      </a:r>
                      <a:r>
                        <a:rPr lang="fr-FR" sz="900" dirty="0"/>
                        <a:t> Pages, Navigation Components</a:t>
                      </a:r>
                    </a:p>
                  </a:txBody>
                  <a:tcPr marL="45310" marR="45310" marT="22655" marB="22655" anchor="ctr"/>
                </a:tc>
                <a:extLst>
                  <a:ext uri="{0D108BD9-81ED-4DB2-BD59-A6C34878D82A}">
                    <a16:rowId xmlns:a16="http://schemas.microsoft.com/office/drawing/2014/main" val="3426750412"/>
                  </a:ext>
                </a:extLst>
              </a:tr>
              <a:tr h="515245"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b="1" dirty="0" err="1" smtClean="0"/>
                        <a:t>Ziad</a:t>
                      </a:r>
                      <a:r>
                        <a:rPr lang="en-US" sz="900" b="1" dirty="0" smtClean="0"/>
                        <a:t> Nabil</a:t>
                      </a:r>
                      <a:endParaRPr lang="en-US" sz="900" b="1" dirty="0"/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Frontend Developer 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Dashboards, Management Panels, Scheduling, Billing &amp; Prescription Interfaces</a:t>
                      </a:r>
                    </a:p>
                  </a:txBody>
                  <a:tcPr marL="45310" marR="45310" marT="22655" marB="22655" anchor="ctr"/>
                </a:tc>
                <a:extLst>
                  <a:ext uri="{0D108BD9-81ED-4DB2-BD59-A6C34878D82A}">
                    <a16:rowId xmlns:a16="http://schemas.microsoft.com/office/drawing/2014/main" val="1191643959"/>
                  </a:ext>
                </a:extLst>
              </a:tr>
              <a:tr h="680556"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b="1" dirty="0" err="1" smtClean="0"/>
                        <a:t>Asmaa</a:t>
                      </a:r>
                      <a:r>
                        <a:rPr lang="en-US" sz="900" b="1" dirty="0" smtClean="0"/>
                        <a:t> Ashraf</a:t>
                      </a:r>
                      <a:endParaRPr lang="en-US" sz="900" b="1" dirty="0"/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/>
                        <a:t>Database &amp; Firebase Developer</a:t>
                      </a:r>
                    </a:p>
                  </a:txBody>
                  <a:tcPr marL="45310" marR="45310" marT="22655" marB="22655" anchor="ctr"/>
                </a:tc>
                <a:tc>
                  <a:txBody>
                    <a:bodyPr/>
                    <a:lstStyle/>
                    <a:p>
                      <a:pPr lvl="1" algn="l" rtl="0">
                        <a:lnSpc>
                          <a:spcPct val="100000"/>
                        </a:lnSpc>
                      </a:pPr>
                      <a:r>
                        <a:rPr lang="en-US" sz="900" dirty="0" err="1"/>
                        <a:t>Firestore</a:t>
                      </a:r>
                      <a:r>
                        <a:rPr lang="en-US" sz="900" dirty="0"/>
                        <a:t> Database Design, Collections Structure, Security Rules, Firebase Configuration</a:t>
                      </a:r>
                    </a:p>
                  </a:txBody>
                  <a:tcPr marL="45310" marR="45310" marT="22655" marB="22655" anchor="ctr"/>
                </a:tc>
                <a:extLst>
                  <a:ext uri="{0D108BD9-81ED-4DB2-BD59-A6C34878D82A}">
                    <a16:rowId xmlns:a16="http://schemas.microsoft.com/office/drawing/2014/main" val="162391726"/>
                  </a:ext>
                </a:extLst>
              </a:tr>
            </a:tbl>
          </a:graphicData>
        </a:graphic>
      </p:graphicFrame>
      <p:sp>
        <p:nvSpPr>
          <p:cNvPr id="72" name="Shape 15"/>
          <p:cNvSpPr/>
          <p:nvPr/>
        </p:nvSpPr>
        <p:spPr>
          <a:xfrm>
            <a:off x="283879" y="4519557"/>
            <a:ext cx="8146054" cy="559165"/>
          </a:xfrm>
          <a:prstGeom prst="roundRect">
            <a:avLst>
              <a:gd name="adj" fmla="val 7742"/>
            </a:avLst>
          </a:prstGeom>
          <a:solidFill>
            <a:srgbClr val="0E7C7B">
              <a:alpha val="90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73" name="Text 16"/>
          <p:cNvSpPr/>
          <p:nvPr/>
        </p:nvSpPr>
        <p:spPr>
          <a:xfrm>
            <a:off x="457200" y="4396324"/>
            <a:ext cx="7799413" cy="468977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4" name="Rectangle 2"/>
          <p:cNvSpPr>
            <a:spLocks noChangeArrowheads="1"/>
          </p:cNvSpPr>
          <p:nvPr/>
        </p:nvSpPr>
        <p:spPr bwMode="auto">
          <a:xfrm>
            <a:off x="233680" y="4522072"/>
            <a:ext cx="86766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Shared Responsibilities:</a:t>
            </a:r>
            <a:r>
              <a:rPr kumimoji="0" lang="ar-EG" altLang="ar-EG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Documentation, Presentation Preparation, Testing &amp; Quality Assurance were collaboratively completed by all team members.</a:t>
            </a:r>
          </a:p>
        </p:txBody>
      </p:sp>
    </p:spTree>
    <p:extLst>
      <p:ext uri="{BB962C8B-B14F-4D97-AF65-F5344CB8AC3E}">
        <p14:creationId xmlns:p14="http://schemas.microsoft.com/office/powerpoint/2010/main" val="233652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599710" cy="3383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7996" cy="3383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05840"/>
            <a:ext cx="31997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31197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32319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32319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432319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432319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892808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892808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892808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1892808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Users &amp; Roles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327510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27510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327510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327510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04980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04980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704980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2704980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082450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82450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082450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3082450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Technology Stack</a:t>
            </a:r>
          </a:p>
        </p:txBody>
      </p:sp>
      <p:sp>
        <p:nvSpPr>
          <p:cNvPr id="29" name="Shape 27"/>
          <p:cNvSpPr/>
          <p:nvPr/>
        </p:nvSpPr>
        <p:spPr>
          <a:xfrm>
            <a:off x="4274655" y="1005840"/>
            <a:ext cx="3599710" cy="3383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74655" y="1005840"/>
            <a:ext cx="47996" cy="3383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4383" y="1005840"/>
            <a:ext cx="31997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7575" y="1005840"/>
            <a:ext cx="31197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74655" y="1432319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74655" y="1432319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4383" y="1432319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7575" y="1432319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74655" y="1892808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74655" y="1892808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4383" y="1892808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7575" y="1892808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74655" y="2327510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74655" y="2327510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4383" y="2327510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77575" y="2327510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274655" y="2704980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74655" y="2704980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4383" y="2704980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77575" y="2704980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274655" y="3082450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274655" y="3082450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4383" y="3082450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77575" y="3082450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3" name="Shape 11"/>
          <p:cNvSpPr/>
          <p:nvPr/>
        </p:nvSpPr>
        <p:spPr>
          <a:xfrm>
            <a:off x="365760" y="3519103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12"/>
          <p:cNvSpPr/>
          <p:nvPr/>
        </p:nvSpPr>
        <p:spPr>
          <a:xfrm>
            <a:off x="365760" y="3519103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5" name="Text 13"/>
          <p:cNvSpPr/>
          <p:nvPr/>
        </p:nvSpPr>
        <p:spPr>
          <a:xfrm>
            <a:off x="475488" y="3519103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6" name="Text 14"/>
          <p:cNvSpPr/>
          <p:nvPr/>
        </p:nvSpPr>
        <p:spPr>
          <a:xfrm>
            <a:off x="868680" y="3519103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</a:t>
            </a:r>
            <a:r>
              <a:rPr lang="en-US" sz="14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57" name="Shape 15"/>
          <p:cNvSpPr/>
          <p:nvPr/>
        </p:nvSpPr>
        <p:spPr>
          <a:xfrm>
            <a:off x="365760" y="3953805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16"/>
          <p:cNvSpPr/>
          <p:nvPr/>
        </p:nvSpPr>
        <p:spPr>
          <a:xfrm>
            <a:off x="365760" y="3953805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9" name="Text 17"/>
          <p:cNvSpPr/>
          <p:nvPr/>
        </p:nvSpPr>
        <p:spPr>
          <a:xfrm>
            <a:off x="475488" y="3953805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0" name="Text 18"/>
          <p:cNvSpPr/>
          <p:nvPr/>
        </p:nvSpPr>
        <p:spPr>
          <a:xfrm>
            <a:off x="868680" y="3953805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Firebase Migration</a:t>
            </a:r>
            <a:endParaRPr lang="en-US" sz="1200" dirty="0"/>
          </a:p>
        </p:txBody>
      </p:sp>
      <p:sp>
        <p:nvSpPr>
          <p:cNvPr id="61" name="Shape 19"/>
          <p:cNvSpPr/>
          <p:nvPr/>
        </p:nvSpPr>
        <p:spPr>
          <a:xfrm>
            <a:off x="365760" y="4331275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20"/>
          <p:cNvSpPr/>
          <p:nvPr/>
        </p:nvSpPr>
        <p:spPr>
          <a:xfrm>
            <a:off x="365760" y="4331275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3" name="Text 21"/>
          <p:cNvSpPr/>
          <p:nvPr/>
        </p:nvSpPr>
        <p:spPr>
          <a:xfrm>
            <a:off x="475488" y="4331275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4" name="Text 22"/>
          <p:cNvSpPr/>
          <p:nvPr/>
        </p:nvSpPr>
        <p:spPr>
          <a:xfrm>
            <a:off x="868680" y="4331275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Collections Design</a:t>
            </a:r>
            <a:endParaRPr lang="en-US" sz="1200" dirty="0"/>
          </a:p>
        </p:txBody>
      </p:sp>
      <p:sp>
        <p:nvSpPr>
          <p:cNvPr id="65" name="Shape 23"/>
          <p:cNvSpPr/>
          <p:nvPr/>
        </p:nvSpPr>
        <p:spPr>
          <a:xfrm>
            <a:off x="365760" y="4708745"/>
            <a:ext cx="3599710" cy="280898"/>
          </a:xfrm>
          <a:prstGeom prst="roundRect">
            <a:avLst>
              <a:gd name="adj" fmla="val 13793"/>
            </a:avLst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Shape 24"/>
          <p:cNvSpPr/>
          <p:nvPr/>
        </p:nvSpPr>
        <p:spPr>
          <a:xfrm>
            <a:off x="365760" y="4708745"/>
            <a:ext cx="47996" cy="28089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7" name="Text 25"/>
          <p:cNvSpPr/>
          <p:nvPr/>
        </p:nvSpPr>
        <p:spPr>
          <a:xfrm>
            <a:off x="475488" y="4708745"/>
            <a:ext cx="319974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E7C7B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8" name="Text 26"/>
          <p:cNvSpPr/>
          <p:nvPr/>
        </p:nvSpPr>
        <p:spPr>
          <a:xfrm>
            <a:off x="868680" y="4708745"/>
            <a:ext cx="3119749" cy="2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Security</a:t>
            </a:r>
            <a:endParaRPr lang="en-US" sz="1200" dirty="0"/>
          </a:p>
        </p:txBody>
      </p:sp>
      <p:sp>
        <p:nvSpPr>
          <p:cNvPr id="85" name="Rectangle 84"/>
          <p:cNvSpPr/>
          <p:nvPr/>
        </p:nvSpPr>
        <p:spPr>
          <a:xfrm>
            <a:off x="4704357" y="998904"/>
            <a:ext cx="2204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UI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clinics face critical operational challenges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887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files prone to loss and damage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23160" y="105156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18872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Conflicts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42316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scheduling system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0" y="105156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18872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Difficulties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invoicing leads to errors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20840" y="105156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18872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Risk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72084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backup or audit trail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74320" y="3429000"/>
            <a:ext cx="8595360" cy="1417320"/>
          </a:xfrm>
          <a:prstGeom prst="roundRect">
            <a:avLst>
              <a:gd name="adj" fmla="val 7742"/>
            </a:avLst>
          </a:prstGeom>
          <a:solidFill>
            <a:srgbClr val="0E7C7B">
              <a:alpha val="90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Smart Clinic System digitizes and automates all clinic operations — eliminating manual errors, preventing data loss, and enabling real-time visibility.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124712"/>
            <a:ext cx="731520" cy="731520"/>
          </a:xfrm>
          <a:prstGeom prst="ellipse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14A8A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17043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920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2267712"/>
            <a:ext cx="1965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update &amp; track patient records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23160" y="96012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44952" y="1124712"/>
            <a:ext cx="731520" cy="731520"/>
          </a:xfrm>
          <a:prstGeom prst="ellipse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14A8A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170432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23160" y="1920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423160" y="2267712"/>
            <a:ext cx="1965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doctors, schedules &amp; specialties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96012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93792" y="1124712"/>
            <a:ext cx="731520" cy="731520"/>
          </a:xfrm>
          <a:prstGeom prst="ellipse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14A8A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17043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1920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0" y="2267712"/>
            <a:ext cx="1965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booking with conflict detection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720840" y="96012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42632" y="1124712"/>
            <a:ext cx="731520" cy="731520"/>
          </a:xfrm>
          <a:prstGeom prst="ellipse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14A8A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1170432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20840" y="1920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720840" y="2267712"/>
            <a:ext cx="1965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digital patient history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74320" y="288036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3044952"/>
            <a:ext cx="731520" cy="731520"/>
          </a:xfrm>
          <a:prstGeom prst="ellipse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14A8A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3090672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74320" y="3840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74320" y="4187952"/>
            <a:ext cx="1965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 generation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423160" y="288036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044952" y="3044952"/>
            <a:ext cx="731520" cy="731520"/>
          </a:xfrm>
          <a:prstGeom prst="ellipse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14A8A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6392" y="3090672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423160" y="3840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423160" y="4187952"/>
            <a:ext cx="1965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invoicing &amp; payment tracking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572000" y="288036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193792" y="3044952"/>
            <a:ext cx="731520" cy="731520"/>
          </a:xfrm>
          <a:prstGeom prst="ellipse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14A8A6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5232" y="3090672"/>
            <a:ext cx="548640" cy="5486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572000" y="3840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572000" y="4187952"/>
            <a:ext cx="1965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performance dashboards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6720840" y="3840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6720840" y="4187952"/>
            <a:ext cx="1965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Users &amp; Roles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4 distinct user roles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07899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709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4048" y="2212848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" y="22128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all users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048" y="2615184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261518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 configuration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4048" y="3017520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301752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all reports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0624" y="341985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423160" y="10058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23160" y="10058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4" y="1078992"/>
            <a:ext cx="594360" cy="594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423160" y="1709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532888" y="2212848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D4F1F0"/>
          </a:solidFill>
          <a:ln w="12700">
            <a:solidFill>
              <a:srgbClr val="D4F1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69464" y="22128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patient records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532888" y="2615184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D4F1F0"/>
          </a:solidFill>
          <a:ln w="12700">
            <a:solidFill>
              <a:srgbClr val="D4F1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569464" y="261518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medical notes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2532888" y="3017520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D4F1F0"/>
          </a:solidFill>
          <a:ln w="12700">
            <a:solidFill>
              <a:srgbClr val="D4F1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569464" y="301752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Write prescriptions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532888" y="3419856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D4F1F0"/>
          </a:solidFill>
          <a:ln w="12700">
            <a:solidFill>
              <a:srgbClr val="D4F1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569464" y="341985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appointments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572000" y="10058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572000" y="10058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1078992"/>
            <a:ext cx="594360" cy="5943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572000" y="1709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Receptionist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681728" y="2212848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FDE8D4"/>
          </a:solidFill>
          <a:ln w="12700">
            <a:solidFill>
              <a:srgbClr val="FDE8D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718304" y="22128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Book appointments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681728" y="2615184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FDE8D4"/>
          </a:solidFill>
          <a:ln w="12700">
            <a:solidFill>
              <a:srgbClr val="FDE8D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18304" y="261518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Register patients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681728" y="3017520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FDE8D4"/>
          </a:solidFill>
          <a:ln w="12700">
            <a:solidFill>
              <a:srgbClr val="FDE8D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718304" y="301752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 invoices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718304" y="341985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720840" y="10058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720840" y="10058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1078992"/>
            <a:ext cx="594360" cy="59436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720840" y="1709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6830568" y="2212848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867144" y="22128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own records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830568" y="2615184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867144" y="261518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Book appointments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830568" y="3017520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867144" y="301752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prescriptions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6830568" y="3419856"/>
            <a:ext cx="1792224" cy="329184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6867144" y="341985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invoices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69848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41832" y="9601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64608" y="1069848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76672" y="9601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(CRUD)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728216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1837944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41832" y="172821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 &amp; Management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728216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64608" y="1837944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76672" y="172821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496312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2606040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" y="249631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&amp; History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496312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2606040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76672" y="249631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264408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" y="3374136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1832" y="326440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Invoicing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64608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326440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4032504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9768" y="4142232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41832" y="403250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6460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76672" y="403250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595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architecture with Firebase + ASP.NET Core backend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335024"/>
            <a:ext cx="6400800" cy="512064"/>
          </a:xfrm>
          <a:prstGeom prst="roundRect">
            <a:avLst>
              <a:gd name="adj" fmla="val 17857"/>
            </a:avLst>
          </a:prstGeom>
          <a:solidFill>
            <a:srgbClr val="21295C"/>
          </a:solidFill>
          <a:ln w="1016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335024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(Browser / Mobile)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847088"/>
            <a:ext cx="0" cy="109728"/>
          </a:xfrm>
          <a:prstGeom prst="line">
            <a:avLst/>
          </a:prstGeom>
          <a:noFill/>
          <a:ln w="25400">
            <a:solidFill>
              <a:srgbClr val="A8DA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956816"/>
            <a:ext cx="640080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016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95681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  (Frontend)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468880"/>
            <a:ext cx="0" cy="109728"/>
          </a:xfrm>
          <a:prstGeom prst="line">
            <a:avLst/>
          </a:prstGeom>
          <a:noFill/>
          <a:ln w="25400">
            <a:solidFill>
              <a:srgbClr val="A8DA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578608"/>
            <a:ext cx="6400800" cy="512064"/>
          </a:xfrm>
          <a:prstGeom prst="roundRect">
            <a:avLst>
              <a:gd name="adj" fmla="val 17857"/>
            </a:avLst>
          </a:prstGeom>
          <a:solidFill>
            <a:srgbClr val="1B4F72"/>
          </a:solidFill>
          <a:ln w="1016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57860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3090672"/>
            <a:ext cx="0" cy="109728"/>
          </a:xfrm>
          <a:prstGeom prst="line">
            <a:avLst/>
          </a:prstGeom>
          <a:noFill/>
          <a:ln w="25400">
            <a:solidFill>
              <a:srgbClr val="A8DA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00400"/>
            <a:ext cx="6400800" cy="512064"/>
          </a:xfrm>
          <a:prstGeom prst="roundRect">
            <a:avLst>
              <a:gd name="adj" fmla="val 17857"/>
            </a:avLst>
          </a:prstGeom>
          <a:solidFill>
            <a:srgbClr val="117A65"/>
          </a:solidFill>
          <a:ln w="1016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20040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Database  (NoSQL)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3712464"/>
            <a:ext cx="0" cy="109728"/>
          </a:xfrm>
          <a:prstGeom prst="line">
            <a:avLst/>
          </a:prstGeom>
          <a:noFill/>
          <a:ln w="25400">
            <a:solidFill>
              <a:srgbClr val="A8DA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822192"/>
            <a:ext cx="6400800" cy="512064"/>
          </a:xfrm>
          <a:prstGeom prst="roundRect">
            <a:avLst>
              <a:gd name="adj" fmla="val 17857"/>
            </a:avLst>
          </a:prstGeom>
          <a:solidFill>
            <a:srgbClr val="1B4F72"/>
          </a:solidFill>
          <a:ln w="1016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82219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Services  (Backend API)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Critical architectural decision — enables scalability and rapid development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</a:t>
            </a: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2" y="887241"/>
            <a:ext cx="4023359" cy="13783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2" y="887241"/>
            <a:ext cx="4023359" cy="326775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2" y="887241"/>
            <a:ext cx="4023359" cy="32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1" y="1390161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1" y="1390161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TypeScript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1" y="1938801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3161" y="1938801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2" y="887241"/>
            <a:ext cx="4023359" cy="13783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2" y="887241"/>
            <a:ext cx="4023359" cy="326775"/>
          </a:xfrm>
          <a:prstGeom prst="roundRect">
            <a:avLst>
              <a:gd name="adj" fmla="val 25000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2" y="887241"/>
            <a:ext cx="4023359" cy="32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1" y="1390161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/>
              <a:t>ASP.NET Core REST API</a:t>
            </a:r>
          </a:p>
        </p:txBody>
      </p:sp>
      <p:sp>
        <p:nvSpPr>
          <p:cNvPr id="15" name="Text 13"/>
          <p:cNvSpPr/>
          <p:nvPr/>
        </p:nvSpPr>
        <p:spPr>
          <a:xfrm>
            <a:off x="6858001" y="1390161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/>
              <a:t>API Endpoints</a:t>
            </a:r>
          </a:p>
        </p:txBody>
      </p:sp>
      <p:sp>
        <p:nvSpPr>
          <p:cNvPr id="16" name="Text 14"/>
          <p:cNvSpPr/>
          <p:nvPr/>
        </p:nvSpPr>
        <p:spPr>
          <a:xfrm>
            <a:off x="4892041" y="1938801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/>
              <a:t>Business Logic Layer</a:t>
            </a:r>
          </a:p>
        </p:txBody>
      </p:sp>
      <p:sp>
        <p:nvSpPr>
          <p:cNvPr id="17" name="Text 15"/>
          <p:cNvSpPr/>
          <p:nvPr/>
        </p:nvSpPr>
        <p:spPr>
          <a:xfrm>
            <a:off x="6858001" y="1938801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/>
              <a:t>C#</a:t>
            </a:r>
          </a:p>
        </p:txBody>
      </p:sp>
      <p:sp>
        <p:nvSpPr>
          <p:cNvPr id="18" name="Shape 16"/>
          <p:cNvSpPr/>
          <p:nvPr/>
        </p:nvSpPr>
        <p:spPr>
          <a:xfrm>
            <a:off x="320041" y="2423015"/>
            <a:ext cx="4023359" cy="1391951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1" y="2423015"/>
            <a:ext cx="4023359" cy="326775"/>
          </a:xfrm>
          <a:prstGeom prst="roundRect">
            <a:avLst>
              <a:gd name="adj" fmla="val 25000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1" y="2423015"/>
            <a:ext cx="4023359" cy="32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925935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Firebase Firestore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23160" y="2925935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NoSQL Collections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474575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Sync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23160" y="3474575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Offline Support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1" y="2423015"/>
            <a:ext cx="4023359" cy="1391951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1" y="2423015"/>
            <a:ext cx="4023359" cy="326775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1" y="2423015"/>
            <a:ext cx="4023359" cy="32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2925935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0" y="2925935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Firebase Console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474575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 CI/CD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0" y="3474575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Environment Config</a:t>
            </a:r>
            <a:endParaRPr lang="en-US" sz="1050" dirty="0"/>
          </a:p>
        </p:txBody>
      </p:sp>
      <p:sp>
        <p:nvSpPr>
          <p:cNvPr id="46" name="Shape 16"/>
          <p:cNvSpPr/>
          <p:nvPr/>
        </p:nvSpPr>
        <p:spPr>
          <a:xfrm>
            <a:off x="320042" y="3958789"/>
            <a:ext cx="4023359" cy="1051559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17"/>
          <p:cNvSpPr/>
          <p:nvPr/>
        </p:nvSpPr>
        <p:spPr>
          <a:xfrm>
            <a:off x="320042" y="3958789"/>
            <a:ext cx="4023359" cy="326775"/>
          </a:xfrm>
          <a:prstGeom prst="roundRect">
            <a:avLst>
              <a:gd name="adj" fmla="val 2500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8" name="Text 18"/>
          <p:cNvSpPr/>
          <p:nvPr/>
        </p:nvSpPr>
        <p:spPr>
          <a:xfrm>
            <a:off x="320042" y="3958789"/>
            <a:ext cx="4023359" cy="32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/>
              <a:t>Security &amp; Authentication</a:t>
            </a:r>
            <a:endParaRPr lang="en-US" sz="1300" dirty="0"/>
          </a:p>
        </p:txBody>
      </p:sp>
      <p:sp>
        <p:nvSpPr>
          <p:cNvPr id="49" name="Text 19"/>
          <p:cNvSpPr/>
          <p:nvPr/>
        </p:nvSpPr>
        <p:spPr>
          <a:xfrm>
            <a:off x="457201" y="4461709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/>
              <a:t>Firebase Authentication</a:t>
            </a:r>
          </a:p>
        </p:txBody>
      </p:sp>
      <p:sp>
        <p:nvSpPr>
          <p:cNvPr id="50" name="Text 20"/>
          <p:cNvSpPr/>
          <p:nvPr/>
        </p:nvSpPr>
        <p:spPr>
          <a:xfrm>
            <a:off x="2423161" y="4461709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/>
              <a:t>Audit Logging</a:t>
            </a:r>
          </a:p>
        </p:txBody>
      </p:sp>
      <p:sp>
        <p:nvSpPr>
          <p:cNvPr id="51" name="Text 21"/>
          <p:cNvSpPr/>
          <p:nvPr/>
        </p:nvSpPr>
        <p:spPr>
          <a:xfrm>
            <a:off x="457201" y="5010349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2" name="Text 22"/>
          <p:cNvSpPr/>
          <p:nvPr/>
        </p:nvSpPr>
        <p:spPr>
          <a:xfrm>
            <a:off x="2423161" y="5010349"/>
            <a:ext cx="1836751" cy="34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</a:t>
            </a:r>
            <a:r>
              <a:rPr lang="en-US" sz="2600" b="1" dirty="0" smtClean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entity-relationship model of the Smart Clinic database</a:t>
            </a:r>
            <a:endParaRPr lang="en-US" sz="1300" dirty="0"/>
          </a:p>
        </p:txBody>
      </p:sp>
      <p:pic>
        <p:nvPicPr>
          <p:cNvPr id="5" name="ER Diagram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20" y="1110000"/>
            <a:ext cx="7190960" cy="3733500"/>
          </a:xfrm>
          <a:prstGeom prst="rect">
            <a:avLst/>
          </a:prstGeom>
        </p:spPr>
      </p:pic>
      <p:sp>
        <p:nvSpPr>
          <p:cNvPr id="6" name="View Live Site Button">
            <a:hlinkClick r:id="rId4"/>
          </p:cNvPr>
          <p:cNvSpPr/>
          <p:nvPr/>
        </p:nvSpPr>
        <p:spPr>
          <a:xfrm>
            <a:off x="7035480" y="660000"/>
            <a:ext cx="1742760" cy="38000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Site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→ Firebase Migration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engineering decision — showing problem-solving and adaptability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200400" cy="3474720"/>
          </a:xfrm>
          <a:prstGeom prst="roundRect">
            <a:avLst>
              <a:gd name="adj" fmla="val 4286"/>
            </a:avLst>
          </a:prstGeom>
          <a:solidFill>
            <a:srgbClr val="1B2A3B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EG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Required relational modeling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482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Schema changes require migrations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Hosting complexity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Longer setup and configuration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552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real-time sync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283464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6334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6616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109728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0D2E1F"/>
          </a:solidFill>
          <a:ln w="254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Firestore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Managed infrastructure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0482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Flexible NoSQL schema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4505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listeners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28529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deployment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2552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auth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</a:p>
          <a:p>
            <a:pPr algn="ctr"/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 and easier maintenance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/>
              <a:t>Firestore</a:t>
            </a:r>
            <a:r>
              <a:rPr lang="en-US" sz="2800" b="1" dirty="0"/>
              <a:t> Collections Design</a:t>
            </a:r>
            <a:endParaRPr lang="en-US" sz="2600" b="1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448" y="684156"/>
            <a:ext cx="6011626" cy="4498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Security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1325880"/>
            <a:ext cx="2286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0058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0D2137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325880"/>
            <a:ext cx="2286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0058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0D2137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ID Token Generated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1325880"/>
            <a:ext cx="2286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0058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0D2137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Verification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1325880"/>
            <a:ext cx="2286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1005840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Access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87452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0F7F7"/>
          </a:solidFill>
          <a:ln w="12700">
            <a:solidFill>
              <a:srgbClr val="A8DA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51560" y="1965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2331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authentication with secure token management and session handling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187452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0F7F7"/>
          </a:solidFill>
          <a:ln w="12700">
            <a:solidFill>
              <a:srgbClr val="A8DA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11680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86400" y="1965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0" y="2331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 with distinct permissions — Admin, Doctor, Receptionist, Patient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74320" y="3429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0F7F7"/>
          </a:solidFill>
          <a:ln w="12700">
            <a:solidFill>
              <a:srgbClr val="A8DA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6616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5156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 Security Rules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05156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rules enforce data access at the database level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709160" y="3429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0F7F7"/>
          </a:solidFill>
          <a:ln w="12700">
            <a:solidFill>
              <a:srgbClr val="A8DA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56616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8640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48640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 actions logged with user, timestamp, and action details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— Login &amp; </a:t>
            </a:r>
            <a:r>
              <a:rPr lang="en-US" sz="2600" b="1" dirty="0" smtClean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604" y="840441"/>
            <a:ext cx="5144321" cy="41658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808840"/>
            <a:ext cx="4988965" cy="422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— </a:t>
            </a:r>
            <a:r>
              <a:rPr lang="en-US" sz="2600" b="1" dirty="0" smtClean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10" y="842036"/>
            <a:ext cx="7716482" cy="419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8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— </a:t>
            </a:r>
            <a:r>
              <a:rPr lang="en-US" sz="2600" b="1" dirty="0" smtClean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65" y="855194"/>
            <a:ext cx="8219075" cy="41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8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smtClean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— Patient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61312"/>
            <a:ext cx="8229600" cy="415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3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</a:t>
            </a:r>
            <a:r>
              <a:rPr lang="en-US" sz="2600" b="1" dirty="0" smtClean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—Receptionist </a:t>
            </a: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65" y="855194"/>
            <a:ext cx="8219075" cy="415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tested against 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Firebase ↔ Backend interactions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Acceptance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scenarios &amp; feedback cycles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20560"/>
              </p:ext>
            </p:extLst>
          </p:nvPr>
        </p:nvGraphicFramePr>
        <p:xfrm>
          <a:off x="274320" y="2286000"/>
          <a:ext cx="8595360" cy="2651761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Login with valid credentials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 to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appointment (no conflict)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appointment (conflict)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patient invoice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invoice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without permission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denied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prescription by 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saved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14A8A6"/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from development to production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828800" cy="2194560"/>
          </a:xfrm>
          <a:prstGeom prst="roundRect">
            <a:avLst>
              <a:gd name="adj" fmla="val 7500"/>
            </a:avLst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194560"/>
            <a:ext cx="2743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097280"/>
            <a:ext cx="1828800" cy="2194560"/>
          </a:xfrm>
          <a:prstGeom prst="roundRect">
            <a:avLst>
              <a:gd name="adj" fmla="val 7500"/>
            </a:avLst>
          </a:prstGeom>
          <a:solidFill>
            <a:schemeClr val="accent2">
              <a:lumMod val="75000"/>
            </a:schemeClr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194560"/>
            <a:ext cx="2743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97280"/>
            <a:ext cx="1828800" cy="2194560"/>
          </a:xfrm>
          <a:prstGeom prst="roundRect">
            <a:avLst>
              <a:gd name="adj" fmla="val 75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194560"/>
            <a:ext cx="2743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097280"/>
            <a:ext cx="1828800" cy="2194560"/>
          </a:xfrm>
          <a:prstGeom prst="roundRect">
            <a:avLst>
              <a:gd name="adj" fmla="val 7500"/>
            </a:avLst>
          </a:prstGeom>
          <a:solidFill>
            <a:schemeClr val="accent6">
              <a:lumMod val="75000"/>
            </a:schemeClr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4160520" cy="1463040"/>
          </a:xfrm>
          <a:prstGeom prst="roundRect">
            <a:avLst>
              <a:gd name="adj" fmla="val 7500"/>
            </a:avLst>
          </a:prstGeom>
          <a:solidFill>
            <a:schemeClr val="accent5">
              <a:lumMod val="50000"/>
            </a:schemeClr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5661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Console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• Firestore • 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&amp; rules management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520440"/>
            <a:ext cx="4160520" cy="1463040"/>
          </a:xfrm>
          <a:prstGeom prst="roundRect">
            <a:avLst>
              <a:gd name="adj" fmla="val 7500"/>
            </a:avLst>
          </a:prstGeom>
          <a:solidFill>
            <a:schemeClr val="accent5">
              <a:lumMod val="75000"/>
            </a:schemeClr>
          </a:solidFill>
          <a:ln w="12700">
            <a:solidFill>
              <a:srgbClr val="14A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5661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Netlify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9319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deploys </a:t>
            </a:r>
            <a:endParaRPr lang="en-US" sz="1000" dirty="0" smtClean="0">
              <a:solidFill>
                <a:srgbClr val="E2EA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00" dirty="0" smtClean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</a:t>
            </a: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management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686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 Learned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41729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Challenge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Lesson Learned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→ Firebase migration mid-project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data model before choosing DB; NoSQL needs different thinking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security with Firestore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rules are essential — never rely on client-only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/>
                        <a:t>Implementing real-time updates with </a:t>
                      </a:r>
                      <a:r>
                        <a:rPr lang="en-US" sz="1100" dirty="0" err="1" smtClean="0"/>
                        <a:t>Firestore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/>
                        <a:t>Efficient data synchronization improves user experience and system responsiveness.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coordination &amp; task division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 sprints + daily standups improved delivery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&amp;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beyond current version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59152" y="107899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107899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887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07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1920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 cross-platform app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54680" y="10058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39512" y="107899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39512" y="107899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1887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207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Notifications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91840" y="1920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Twilio integration for appointment reminders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19872" y="107899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19872" y="107899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18872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207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Payments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72200" y="1920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Stripe / PayPal payment gateway integration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4320" y="297180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359152" y="304495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359152" y="304495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15468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10412" y="3223457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/>
              <a:t>File &amp; Document Management</a:t>
            </a:r>
          </a:p>
        </p:txBody>
      </p:sp>
      <p:sp>
        <p:nvSpPr>
          <p:cNvPr id="28" name="Text 22"/>
          <p:cNvSpPr/>
          <p:nvPr/>
        </p:nvSpPr>
        <p:spPr>
          <a:xfrm>
            <a:off x="411480" y="3886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Upload and manage medical reports, scans, and laboratory results using Firebase Storage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54680" y="297180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239512" y="3044952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239512" y="304495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154680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31920" y="3172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Multi-Clinic Support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291840" y="3886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SaaS model for multiple clinic instances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5394960" cy="3977640"/>
          </a:xfrm>
          <a:prstGeom prst="roundRect">
            <a:avLst>
              <a:gd name="adj" fmla="val 3448"/>
            </a:avLst>
          </a:prstGeom>
          <a:solidFill>
            <a:srgbClr val="F0F7F7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Achieved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Full-stack clinic management system built and deployed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Role-based access for 4 user types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Real-time data with Firebase Firestore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SQL → Firebase migration completed successfully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Automated billing, prescriptions &amp; audit logs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Deployed live on Netlify with CI/CD pipeline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005840"/>
            <a:ext cx="1463040" cy="1691640"/>
          </a:xfrm>
          <a:prstGeom prst="roundRect">
            <a:avLst>
              <a:gd name="adj" fmla="val 7500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85216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1005840"/>
            <a:ext cx="1463040" cy="1691640"/>
          </a:xfrm>
          <a:prstGeom prst="roundRect">
            <a:avLst>
              <a:gd name="adj" fmla="val 7500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45236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2971800"/>
            <a:ext cx="1463040" cy="1691640"/>
          </a:xfrm>
          <a:prstGeom prst="roundRect">
            <a:avLst>
              <a:gd name="adj" fmla="val 7500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85216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87563" y="2971800"/>
            <a:ext cx="1585398" cy="1691640"/>
          </a:xfrm>
          <a:prstGeom prst="roundRect">
            <a:avLst>
              <a:gd name="adj" fmla="val 7500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</a:p>
          <a:p>
            <a:pPr algn="ctr"/>
            <a:r>
              <a:rPr lang="en-US" sz="2000" b="1" dirty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5236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365760"/>
          </a:xfrm>
          <a:prstGeom prst="roundRect">
            <a:avLst>
              <a:gd name="adj" fmla="val 25000"/>
            </a:avLst>
          </a:prstGeom>
          <a:solidFill>
            <a:srgbClr val="0E7C7B">
              <a:alpha val="85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Clinic Management System successfully designed, implemented, tested, and deployed using modern cloud technologies.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4A8A6">
              <a:alpha val="20000"/>
            </a:srgbClr>
          </a:solidFill>
          <a:ln w="12700">
            <a:solidFill>
              <a:srgbClr val="14A8A6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722376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Clinic Management System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 •  2025 –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1066</Words>
  <Application>Microsoft Office PowerPoint</Application>
  <PresentationFormat>On-screen Show (16:9)</PresentationFormat>
  <Paragraphs>321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Clinic Management System</dc:title>
  <dc:subject>PptxGenJS Presentation</dc:subject>
  <dc:creator>PptxGenJS</dc:creator>
  <cp:lastModifiedBy>Windows User</cp:lastModifiedBy>
  <cp:revision>29</cp:revision>
  <dcterms:created xsi:type="dcterms:W3CDTF">2026-06-25T22:04:01Z</dcterms:created>
  <dcterms:modified xsi:type="dcterms:W3CDTF">2026-06-28T19:50:23Z</dcterms:modified>
</cp:coreProperties>
</file>